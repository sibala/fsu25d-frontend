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Antic Slab"/>
      <p:regular r:id="rId17"/>
    </p:embeddedFont>
    <p:embeddedFont>
      <p:font typeface="Oswald"/>
      <p:regular r:id="rId18"/>
      <p:bold r:id="rId19"/>
    </p:embeddedFont>
    <p:embeddedFont>
      <p:font typeface="Qwigley"/>
      <p:regular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wigley-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AnticSlab-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swald-bold.fntdata"/><Relationship Id="rId6" Type="http://schemas.openxmlformats.org/officeDocument/2006/relationships/slide" Target="slides/slide1.xml"/><Relationship Id="rId18" Type="http://schemas.openxmlformats.org/officeDocument/2006/relationships/font" Target="fonts/Oswald-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7de4adc5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7de4adc5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7de4adc55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7de4adc55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de4adc55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de4adc55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7de4adc55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7de4adc55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7d7bac6f6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7d7bac6f6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7d7bac6f6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7d7bac6f6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7d7bac6f61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7d7bac6f61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7d7bac6f6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7d7bac6f6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7d7bac6f6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7d7bac6f6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7de4adc55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7de4adc55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smashingmagazine.com/2011/03/technical-web-typography-guidelines-and-techniques/" TargetMode="External"/><Relationship Id="rId4" Type="http://schemas.openxmlformats.org/officeDocument/2006/relationships/image" Target="../media/image1.png"/><Relationship Id="rId5" Type="http://schemas.openxmlformats.org/officeDocument/2006/relationships/hyperlink" Target="http://saosansmode.s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hyperlink" Target="https://webbriktlinjer.se/riktlinjer/124-inte-bara-farg/" TargetMode="External"/><Relationship Id="rId5" Type="http://schemas.openxmlformats.org/officeDocument/2006/relationships/hyperlink" Target="http://www.adhamdannaway.com/" TargetMode="External"/><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hyperlink" Target="https://www.dagensmedia.se/experter/sa-skapar-du-den-perfekta-webbstrukturen-682102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toptal.com/designers/ux/mobile-ux-design-best-practices"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hyperlink" Target="https://effymoom.blogspot.com/2018/09/colors-and-emotions.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familydental.se/" TargetMode="External"/><Relationship Id="rId4" Type="http://schemas.openxmlformats.org/officeDocument/2006/relationships/hyperlink" Target="https://www.aftonbladet.s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342475"/>
            <a:ext cx="8520600" cy="769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UI, </a:t>
            </a:r>
            <a:r>
              <a:rPr lang="en-GB"/>
              <a:t>UX och tillgänglighet</a:t>
            </a:r>
            <a:endParaRPr/>
          </a:p>
        </p:txBody>
      </p:sp>
      <p:sp>
        <p:nvSpPr>
          <p:cNvPr id="55" name="Google Shape;55;p13"/>
          <p:cNvSpPr txBox="1"/>
          <p:nvPr>
            <p:ph idx="1" type="subTitle"/>
          </p:nvPr>
        </p:nvSpPr>
        <p:spPr>
          <a:xfrm>
            <a:off x="64150" y="1499250"/>
            <a:ext cx="9144000" cy="334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Termerna </a:t>
            </a:r>
            <a:r>
              <a:rPr lang="en-GB" sz="1800"/>
              <a:t>användbarhet (UI) och </a:t>
            </a:r>
            <a:r>
              <a:rPr lang="en-GB" sz="1800"/>
              <a:t>användarupplevelse (UX) tolkas på väldigt olika sätt, på nätet. Vissa menar att </a:t>
            </a:r>
            <a:r>
              <a:rPr lang="en-GB" sz="1800"/>
              <a:t>UX är ett koncept som inkluderar komponenter såsom tillgänglighet, interaktionsdesign, UI m.m. Andra menar att UI och UX jobbar med samma verktyg, men från olika perspektiv. Här utgår vi från den senare tolkningen. </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lang="en-GB" sz="1800"/>
              <a:t>I denna genomgång kommer vi gå igenom följande termer översiktligt, och tolka dessa på följande sätt:</a:t>
            </a:r>
            <a:endParaRPr sz="1800"/>
          </a:p>
          <a:p>
            <a:pPr indent="0" lvl="0" marL="0" rtl="0" algn="l">
              <a:spcBef>
                <a:spcPts val="0"/>
              </a:spcBef>
              <a:spcAft>
                <a:spcPts val="0"/>
              </a:spcAft>
              <a:buClr>
                <a:schemeClr val="dk1"/>
              </a:buClr>
              <a:buSzPts val="1100"/>
              <a:buFont typeface="Arial"/>
              <a:buNone/>
            </a:pPr>
            <a:r>
              <a:t/>
            </a:r>
            <a:endParaRPr sz="1800"/>
          </a:p>
          <a:p>
            <a:pPr indent="-342900" lvl="0" marL="457200" rtl="0" algn="l">
              <a:spcBef>
                <a:spcPts val="0"/>
              </a:spcBef>
              <a:spcAft>
                <a:spcPts val="0"/>
              </a:spcAft>
              <a:buSzPts val="1800"/>
              <a:buChar char="-"/>
            </a:pPr>
            <a:r>
              <a:rPr b="1" lang="en-GB" sz="1800"/>
              <a:t>Användbarhet (</a:t>
            </a:r>
            <a:r>
              <a:rPr b="1" lang="en-GB" sz="1800"/>
              <a:t>U</a:t>
            </a:r>
            <a:r>
              <a:rPr b="1" lang="en-GB" sz="1800"/>
              <a:t>I)</a:t>
            </a:r>
            <a:r>
              <a:rPr lang="en-GB" sz="1800"/>
              <a:t>:</a:t>
            </a:r>
            <a:r>
              <a:rPr lang="en-GB" sz="1800"/>
              <a:t> Hur enkelt är det att förstå och använda ett system</a:t>
            </a:r>
            <a:endParaRPr sz="1800"/>
          </a:p>
          <a:p>
            <a:pPr indent="-342900" lvl="0" marL="457200" rtl="0" algn="l">
              <a:spcBef>
                <a:spcPts val="0"/>
              </a:spcBef>
              <a:spcAft>
                <a:spcPts val="0"/>
              </a:spcAft>
              <a:buSzPts val="1800"/>
              <a:buChar char="-"/>
            </a:pPr>
            <a:r>
              <a:rPr b="1" lang="en-GB" sz="1800"/>
              <a:t>Användarupplevelse (UX)</a:t>
            </a:r>
            <a:r>
              <a:rPr lang="en-GB" sz="1800"/>
              <a:t>: Hur upplevs interaktionen med systemet</a:t>
            </a:r>
            <a:endParaRPr b="1" sz="1800"/>
          </a:p>
          <a:p>
            <a:pPr indent="-342900" lvl="0" marL="457200" rtl="0" algn="l">
              <a:spcBef>
                <a:spcPts val="0"/>
              </a:spcBef>
              <a:spcAft>
                <a:spcPts val="0"/>
              </a:spcAft>
              <a:buSzPts val="1800"/>
              <a:buChar char="-"/>
            </a:pPr>
            <a:r>
              <a:rPr b="1" lang="en-GB" sz="1800"/>
              <a:t>Tillgänglighet</a:t>
            </a:r>
            <a:r>
              <a:rPr lang="en-GB" sz="1800"/>
              <a:t>:</a:t>
            </a:r>
            <a:r>
              <a:rPr lang="en-GB" sz="1800"/>
              <a:t> Hur enkelt är det att få tillgång till systemet och alla dess funktioner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105975" y="60800"/>
            <a:ext cx="8414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2"/>
                </a:solidFill>
              </a:rPr>
              <a:t>UI</a:t>
            </a:r>
            <a:endParaRPr/>
          </a:p>
        </p:txBody>
      </p:sp>
      <p:sp>
        <p:nvSpPr>
          <p:cNvPr id="61" name="Google Shape;61;p14"/>
          <p:cNvSpPr txBox="1"/>
          <p:nvPr>
            <p:ph idx="1" type="body"/>
          </p:nvPr>
        </p:nvSpPr>
        <p:spPr>
          <a:xfrm>
            <a:off x="203550" y="633500"/>
            <a:ext cx="8736900" cy="459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Bra design är design som förmedlar innehållet och leder användaren genom systemet på ett effektivt sätt. </a:t>
            </a:r>
            <a:endParaRPr/>
          </a:p>
          <a:p>
            <a:pPr indent="0" lvl="0" marL="0" rtl="0" algn="l">
              <a:spcBef>
                <a:spcPts val="1600"/>
              </a:spcBef>
              <a:spcAft>
                <a:spcPts val="0"/>
              </a:spcAft>
              <a:buNone/>
            </a:pPr>
            <a:r>
              <a:rPr lang="en-GB"/>
              <a:t>Viktigt därför att undvika dekorativa designelement. Designelement som endast är dekorativa leder bort uppmärksamhet från själva användandet, vilket försämrar användbarheten. Det kan vara onödiga understreck på rubriker, toning (gradients) som ej leder användaren eller bilder som ej är direkt kopplade till innehållet. </a:t>
            </a:r>
            <a:endParaRPr/>
          </a:p>
          <a:p>
            <a:pPr indent="0" lvl="0" marL="0" rtl="0" algn="l">
              <a:spcBef>
                <a:spcPts val="1600"/>
              </a:spcBef>
              <a:spcAft>
                <a:spcPts val="0"/>
              </a:spcAft>
              <a:buNone/>
            </a:pPr>
            <a:r>
              <a:rPr lang="en-GB"/>
              <a:t>Viktiga frågor för bra UI:</a:t>
            </a:r>
            <a:endParaRPr/>
          </a:p>
          <a:p>
            <a:pPr indent="-342900" lvl="0" marL="457200" rtl="0" algn="l">
              <a:spcBef>
                <a:spcPts val="1600"/>
              </a:spcBef>
              <a:spcAft>
                <a:spcPts val="0"/>
              </a:spcAft>
              <a:buSzPts val="1800"/>
              <a:buChar char="-"/>
            </a:pPr>
            <a:r>
              <a:rPr lang="en-GB"/>
              <a:t>Är syftet med </a:t>
            </a:r>
            <a:r>
              <a:rPr lang="en-GB"/>
              <a:t>systemet</a:t>
            </a:r>
            <a:r>
              <a:rPr lang="en-GB"/>
              <a:t> tydligt. </a:t>
            </a:r>
            <a:endParaRPr/>
          </a:p>
          <a:p>
            <a:pPr indent="-342900" lvl="0" marL="457200" rtl="0" algn="l">
              <a:spcBef>
                <a:spcPts val="0"/>
              </a:spcBef>
              <a:spcAft>
                <a:spcPts val="0"/>
              </a:spcAft>
              <a:buSzPts val="1800"/>
              <a:buChar char="-"/>
            </a:pPr>
            <a:r>
              <a:rPr lang="en-GB"/>
              <a:t>Är navigeringen tydlig och enkel att använda. </a:t>
            </a:r>
            <a:endParaRPr/>
          </a:p>
          <a:p>
            <a:pPr indent="-342900" lvl="0" marL="457200" rtl="0" algn="l">
              <a:spcBef>
                <a:spcPts val="0"/>
              </a:spcBef>
              <a:spcAft>
                <a:spcPts val="0"/>
              </a:spcAft>
              <a:buSzPts val="1800"/>
              <a:buChar char="-"/>
            </a:pPr>
            <a:r>
              <a:rPr lang="en-GB"/>
              <a:t>Är innehållet enkelt att förstå.</a:t>
            </a:r>
            <a:endParaRPr/>
          </a:p>
          <a:p>
            <a:pPr indent="-342900" lvl="0" marL="457200" rtl="0" algn="l">
              <a:spcBef>
                <a:spcPts val="0"/>
              </a:spcBef>
              <a:spcAft>
                <a:spcPts val="0"/>
              </a:spcAft>
              <a:buSzPts val="1800"/>
              <a:buChar char="-"/>
            </a:pPr>
            <a:r>
              <a:rPr lang="en-GB"/>
              <a:t>Är det enkelt att sätta sig in i systemet, som ny besökare</a:t>
            </a:r>
            <a:endParaRPr/>
          </a:p>
          <a:p>
            <a:pPr indent="-342900" lvl="0" marL="457200" rtl="0" algn="l">
              <a:spcBef>
                <a:spcPts val="0"/>
              </a:spcBef>
              <a:spcAft>
                <a:spcPts val="0"/>
              </a:spcAft>
              <a:buSzPts val="1800"/>
              <a:buChar char="-"/>
            </a:pPr>
            <a:r>
              <a:rPr lang="en-GB"/>
              <a:t>Kan besökaren uträtta sitt ärende på ett enkelt och effektivt sätt</a:t>
            </a:r>
            <a:endParaRPr/>
          </a:p>
          <a:p>
            <a:pPr indent="0" lvl="0" marL="0" rtl="0" algn="l">
              <a:spcBef>
                <a:spcPts val="1600"/>
              </a:spcBef>
              <a:spcAft>
                <a:spcPts val="0"/>
              </a:spcAft>
              <a:buNone/>
            </a:pPr>
            <a:r>
              <a:t/>
            </a:r>
            <a:endParaRPr/>
          </a:p>
          <a:p>
            <a:pPr indent="0" lvl="0" marL="0" rtl="0" algn="l">
              <a:spcBef>
                <a:spcPts val="1600"/>
              </a:spcBef>
              <a:spcAft>
                <a:spcPts val="1600"/>
              </a:spcAft>
              <a:buClr>
                <a:schemeClr val="dk1"/>
              </a:buClr>
              <a:buSzPts val="1100"/>
              <a:buFont typeface="Arial"/>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107175" y="61475"/>
            <a:ext cx="827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2"/>
                </a:solidFill>
              </a:rPr>
              <a:t>UI</a:t>
            </a:r>
            <a:endParaRPr/>
          </a:p>
          <a:p>
            <a:pPr indent="0" lvl="0" marL="0" rtl="0" algn="l">
              <a:spcBef>
                <a:spcPts val="0"/>
              </a:spcBef>
              <a:spcAft>
                <a:spcPts val="0"/>
              </a:spcAft>
              <a:buNone/>
            </a:pPr>
            <a:r>
              <a:t/>
            </a:r>
            <a:endParaRPr/>
          </a:p>
        </p:txBody>
      </p:sp>
      <p:sp>
        <p:nvSpPr>
          <p:cNvPr id="67" name="Google Shape;67;p15"/>
          <p:cNvSpPr txBox="1"/>
          <p:nvPr>
            <p:ph idx="1" type="body"/>
          </p:nvPr>
        </p:nvSpPr>
        <p:spPr>
          <a:xfrm>
            <a:off x="107175" y="819300"/>
            <a:ext cx="9144000" cy="432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T</a:t>
            </a:r>
            <a:r>
              <a:rPr b="1" lang="en-GB"/>
              <a:t>ypografi</a:t>
            </a:r>
            <a:r>
              <a:rPr lang="en-GB"/>
              <a:t> kan förtydliga förmedlandet av innehållet. Guide på bra typografi med grid: </a:t>
            </a:r>
            <a:r>
              <a:rPr lang="en-GB" sz="1100" u="sng">
                <a:solidFill>
                  <a:srgbClr val="1155CC"/>
                </a:solidFill>
                <a:hlinkClick r:id="rId3">
                  <a:extLst>
                    <a:ext uri="{A12FA001-AC4F-418D-AE19-62706E023703}">
                      <ahyp:hlinkClr val="tx"/>
                    </a:ext>
                  </a:extLst>
                </a:hlinkClick>
              </a:rPr>
              <a:t>https://www.smashingmagazine.com/2011/03/technical-web-typography-guidelines-and-techniques/</a:t>
            </a:r>
            <a:endParaRPr b="1"/>
          </a:p>
          <a:p>
            <a:pPr indent="0" lvl="0" marL="0" rtl="0" algn="l">
              <a:spcBef>
                <a:spcPts val="1600"/>
              </a:spcBef>
              <a:spcAft>
                <a:spcPts val="0"/>
              </a:spcAft>
              <a:buNone/>
            </a:pPr>
            <a:r>
              <a:rPr b="1" lang="en-GB"/>
              <a:t>Kontrast</a:t>
            </a:r>
            <a:r>
              <a:rPr lang="en-GB"/>
              <a:t> förtydligar innehållet, gör innehållet mer intressant, samt leder ögat. Exempel på en tydligare och mer intressant prislista, med hjälp av kontrast:</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2100"/>
              </a:spcAft>
              <a:buNone/>
            </a:pPr>
            <a:r>
              <a:t/>
            </a:r>
            <a:endParaRPr/>
          </a:p>
        </p:txBody>
      </p:sp>
      <p:pic>
        <p:nvPicPr>
          <p:cNvPr id="68" name="Google Shape;68;p15"/>
          <p:cNvPicPr preferRelativeResize="0"/>
          <p:nvPr/>
        </p:nvPicPr>
        <p:blipFill>
          <a:blip r:embed="rId4">
            <a:alphaModFix/>
          </a:blip>
          <a:stretch>
            <a:fillRect/>
          </a:stretch>
        </p:blipFill>
        <p:spPr>
          <a:xfrm>
            <a:off x="217750" y="2424975"/>
            <a:ext cx="4882676" cy="1356300"/>
          </a:xfrm>
          <a:prstGeom prst="rect">
            <a:avLst/>
          </a:prstGeom>
          <a:noFill/>
          <a:ln>
            <a:noFill/>
          </a:ln>
          <a:effectLst>
            <a:outerShdw blurRad="57150" rotWithShape="0" algn="bl" dir="5400000" dist="19050">
              <a:srgbClr val="000000">
                <a:alpha val="50000"/>
              </a:srgbClr>
            </a:outerShdw>
          </a:effectLst>
        </p:spPr>
      </p:pic>
      <p:sp>
        <p:nvSpPr>
          <p:cNvPr id="69" name="Google Shape;69;p15"/>
          <p:cNvSpPr txBox="1"/>
          <p:nvPr/>
        </p:nvSpPr>
        <p:spPr>
          <a:xfrm>
            <a:off x="5387800" y="3490950"/>
            <a:ext cx="1931100" cy="3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t>Bild från: </a:t>
            </a:r>
            <a:r>
              <a:rPr lang="en-GB" sz="900" u="sng">
                <a:solidFill>
                  <a:schemeClr val="hlink"/>
                </a:solidFill>
                <a:hlinkClick r:id="rId5"/>
              </a:rPr>
              <a:t>http://saosansmode.se/</a:t>
            </a:r>
            <a:endParaRPr sz="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263250" y="122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2"/>
                </a:solidFill>
              </a:rPr>
              <a:t>UI</a:t>
            </a:r>
            <a:endParaRPr/>
          </a:p>
          <a:p>
            <a:pPr indent="0" lvl="0" marL="0" rtl="0" algn="l">
              <a:spcBef>
                <a:spcPts val="0"/>
              </a:spcBef>
              <a:spcAft>
                <a:spcPts val="0"/>
              </a:spcAft>
              <a:buNone/>
            </a:pPr>
            <a:r>
              <a:t/>
            </a:r>
            <a:endParaRPr/>
          </a:p>
        </p:txBody>
      </p:sp>
      <p:sp>
        <p:nvSpPr>
          <p:cNvPr id="75" name="Google Shape;75;p16"/>
          <p:cNvSpPr txBox="1"/>
          <p:nvPr>
            <p:ph idx="1" type="body"/>
          </p:nvPr>
        </p:nvSpPr>
        <p:spPr>
          <a:xfrm>
            <a:off x="263250" y="613200"/>
            <a:ext cx="8880900" cy="448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Bilder </a:t>
            </a:r>
            <a:r>
              <a:rPr lang="en-GB"/>
              <a:t>kan</a:t>
            </a:r>
            <a:r>
              <a:rPr b="1" lang="en-GB"/>
              <a:t> </a:t>
            </a:r>
            <a:r>
              <a:rPr lang="en-GB"/>
              <a:t>ofta vara det mest effektiva sättet att förmedla ett innehåll:</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b="1"/>
          </a:p>
          <a:p>
            <a:pPr indent="0" lvl="0" marL="0" rtl="0" algn="l">
              <a:spcBef>
                <a:spcPts val="1600"/>
              </a:spcBef>
              <a:spcAft>
                <a:spcPts val="0"/>
              </a:spcAft>
              <a:buNone/>
            </a:pPr>
            <a:r>
              <a:t/>
            </a:r>
            <a:endParaRPr b="1"/>
          </a:p>
          <a:p>
            <a:pPr indent="0" lvl="0" marL="0" rtl="0" algn="l">
              <a:spcBef>
                <a:spcPts val="1600"/>
              </a:spcBef>
              <a:spcAft>
                <a:spcPts val="0"/>
              </a:spcAft>
              <a:buNone/>
            </a:pPr>
            <a:r>
              <a:rPr b="1" lang="en-GB"/>
              <a:t>Färger</a:t>
            </a:r>
            <a:r>
              <a:rPr lang="en-GB"/>
              <a:t> kan strukturera innehållet, leda användare och hjälpa till att förmedla innehåll:</a:t>
            </a:r>
            <a:endParaRPr/>
          </a:p>
          <a:p>
            <a:pPr indent="0" lvl="0" marL="0" rtl="0" algn="l">
              <a:spcBef>
                <a:spcPts val="1600"/>
              </a:spcBef>
              <a:spcAft>
                <a:spcPts val="0"/>
              </a:spcAft>
              <a:buClr>
                <a:srgbClr val="000000"/>
              </a:buClr>
              <a:buSzPts val="1100"/>
              <a:buFont typeface="Arial"/>
              <a:buNone/>
            </a:pPr>
            <a:r>
              <a:t/>
            </a:r>
            <a:endParaRPr/>
          </a:p>
          <a:p>
            <a:pPr indent="0" lvl="0" marL="0" rtl="0" algn="l">
              <a:spcBef>
                <a:spcPts val="1600"/>
              </a:spcBef>
              <a:spcAft>
                <a:spcPts val="1600"/>
              </a:spcAft>
              <a:buNone/>
            </a:pPr>
            <a:r>
              <a:t/>
            </a:r>
            <a:endParaRPr/>
          </a:p>
        </p:txBody>
      </p:sp>
      <p:pic>
        <p:nvPicPr>
          <p:cNvPr id="76" name="Google Shape;76;p16"/>
          <p:cNvPicPr preferRelativeResize="0"/>
          <p:nvPr/>
        </p:nvPicPr>
        <p:blipFill>
          <a:blip r:embed="rId3">
            <a:alphaModFix/>
          </a:blip>
          <a:stretch>
            <a:fillRect/>
          </a:stretch>
        </p:blipFill>
        <p:spPr>
          <a:xfrm>
            <a:off x="378475" y="1038600"/>
            <a:ext cx="3106174" cy="1743452"/>
          </a:xfrm>
          <a:prstGeom prst="rect">
            <a:avLst/>
          </a:prstGeom>
          <a:noFill/>
          <a:ln>
            <a:noFill/>
          </a:ln>
        </p:spPr>
      </p:pic>
      <p:sp>
        <p:nvSpPr>
          <p:cNvPr id="77" name="Google Shape;77;p16"/>
          <p:cNvSpPr txBox="1"/>
          <p:nvPr/>
        </p:nvSpPr>
        <p:spPr>
          <a:xfrm>
            <a:off x="3881350" y="4740900"/>
            <a:ext cx="35562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t>Bild från: </a:t>
            </a:r>
            <a:r>
              <a:rPr lang="en-GB" sz="900" u="sng">
                <a:solidFill>
                  <a:schemeClr val="hlink"/>
                </a:solidFill>
                <a:hlinkClick r:id="rId4"/>
              </a:rPr>
              <a:t>https://webbriktlinjer.se/riktlinjer/124-inte-bara-farg/</a:t>
            </a:r>
            <a:endParaRPr sz="900"/>
          </a:p>
        </p:txBody>
      </p:sp>
      <p:sp>
        <p:nvSpPr>
          <p:cNvPr id="78" name="Google Shape;78;p16"/>
          <p:cNvSpPr txBox="1"/>
          <p:nvPr/>
        </p:nvSpPr>
        <p:spPr>
          <a:xfrm>
            <a:off x="3881350" y="2533400"/>
            <a:ext cx="24051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t>Bild från: </a:t>
            </a:r>
            <a:r>
              <a:rPr lang="en-GB" sz="900" u="sng">
                <a:solidFill>
                  <a:schemeClr val="hlink"/>
                </a:solidFill>
                <a:hlinkClick r:id="rId5"/>
              </a:rPr>
              <a:t>http://www.adhamdannaway.com/</a:t>
            </a:r>
            <a:endParaRPr sz="900"/>
          </a:p>
        </p:txBody>
      </p:sp>
      <p:pic>
        <p:nvPicPr>
          <p:cNvPr id="79" name="Google Shape;79;p16"/>
          <p:cNvPicPr preferRelativeResize="0"/>
          <p:nvPr/>
        </p:nvPicPr>
        <p:blipFill>
          <a:blip r:embed="rId6">
            <a:alphaModFix/>
          </a:blip>
          <a:stretch>
            <a:fillRect/>
          </a:stretch>
        </p:blipFill>
        <p:spPr>
          <a:xfrm>
            <a:off x="325550" y="3605700"/>
            <a:ext cx="2780276" cy="1537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idx="1" type="body"/>
          </p:nvPr>
        </p:nvSpPr>
        <p:spPr>
          <a:xfrm>
            <a:off x="105875" y="680175"/>
            <a:ext cx="8611200" cy="3695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a:t>Navigeringen </a:t>
            </a:r>
            <a:r>
              <a:rPr lang="en-GB"/>
              <a:t>skall vara enkel att hitta och använda. Man placerar oftast huvudmenyn högst upp för att användaren börjar granska en sida uppifrån. Viktigt att menylänkarna har en prioritetsordning. Hem/start brukar vara först följt av den näst mest viktiga länken osv. Se till att hierarkin på navigationen inte blir djupare än 4 nivåer. En tumregel är att man bör kunna navigera, inom tre-fyra klick, till alla systemets olika delar. </a:t>
            </a:r>
            <a:endParaRPr/>
          </a:p>
        </p:txBody>
      </p:sp>
      <p:sp>
        <p:nvSpPr>
          <p:cNvPr id="85" name="Google Shape;85;p17"/>
          <p:cNvSpPr txBox="1"/>
          <p:nvPr>
            <p:ph type="title"/>
          </p:nvPr>
        </p:nvSpPr>
        <p:spPr>
          <a:xfrm>
            <a:off x="105875" y="63400"/>
            <a:ext cx="8414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2"/>
                </a:solidFill>
              </a:rPr>
              <a:t>UI</a:t>
            </a:r>
            <a:endParaRPr/>
          </a:p>
          <a:p>
            <a:pPr indent="0" lvl="0" marL="0" rtl="0" algn="l">
              <a:spcBef>
                <a:spcPts val="0"/>
              </a:spcBef>
              <a:spcAft>
                <a:spcPts val="0"/>
              </a:spcAft>
              <a:buNone/>
            </a:pPr>
            <a:r>
              <a:t/>
            </a:r>
            <a:endParaRPr/>
          </a:p>
        </p:txBody>
      </p:sp>
      <p:pic>
        <p:nvPicPr>
          <p:cNvPr id="86" name="Google Shape;86;p17"/>
          <p:cNvPicPr preferRelativeResize="0"/>
          <p:nvPr/>
        </p:nvPicPr>
        <p:blipFill>
          <a:blip r:embed="rId3">
            <a:alphaModFix/>
          </a:blip>
          <a:stretch>
            <a:fillRect/>
          </a:stretch>
        </p:blipFill>
        <p:spPr>
          <a:xfrm>
            <a:off x="1462200" y="2571750"/>
            <a:ext cx="6015376" cy="2515200"/>
          </a:xfrm>
          <a:prstGeom prst="rect">
            <a:avLst/>
          </a:prstGeom>
          <a:noFill/>
          <a:ln>
            <a:noFill/>
          </a:ln>
        </p:spPr>
      </p:pic>
      <p:sp>
        <p:nvSpPr>
          <p:cNvPr id="87" name="Google Shape;87;p17"/>
          <p:cNvSpPr txBox="1"/>
          <p:nvPr/>
        </p:nvSpPr>
        <p:spPr>
          <a:xfrm>
            <a:off x="0" y="4870675"/>
            <a:ext cx="6255600" cy="5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t>Bild från: </a:t>
            </a:r>
            <a:r>
              <a:rPr lang="en-GB" sz="1000" u="sng">
                <a:solidFill>
                  <a:schemeClr val="hlink"/>
                </a:solidFill>
                <a:hlinkClick r:id="rId4"/>
              </a:rPr>
              <a:t>https://www.dagensmedia.se/experter/sa-skapar-du-den-perfekta-webbstrukturen-6821026</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idx="1" type="body"/>
          </p:nvPr>
        </p:nvSpPr>
        <p:spPr>
          <a:xfrm>
            <a:off x="207450" y="675425"/>
            <a:ext cx="8729100" cy="417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För mobiler skiljer sig UI lite ifrån desktop. Den största anledningen är pågrund av mindre yta att jobba med. Det är också den största utmaningen med att utveckla mobilanpassade system, dvs. att få plats med allt viktigt samtidigt som systemet förblir användbart. Därav måste man vara mer selektiv med vad man placerar på en mobilanpassad sida.</a:t>
            </a:r>
            <a:endParaRPr/>
          </a:p>
          <a:p>
            <a:pPr indent="0" lvl="0" marL="0" rtl="0" algn="l">
              <a:spcBef>
                <a:spcPts val="1600"/>
              </a:spcBef>
              <a:spcAft>
                <a:spcPts val="1600"/>
              </a:spcAft>
              <a:buNone/>
            </a:pPr>
            <a:r>
              <a:rPr lang="en-GB"/>
              <a:t>En annan sak att tänka på är att de flesta användarna är högerhänta. När en högerhänt användare navigerar ett webbsystem med endast en hand, då är användarens tumme på högra sidan. </a:t>
            </a:r>
            <a:r>
              <a:rPr lang="en-GB"/>
              <a:t>Bra</a:t>
            </a:r>
            <a:r>
              <a:rPr lang="en-GB"/>
              <a:t> UI här kan </a:t>
            </a:r>
            <a:r>
              <a:rPr lang="en-GB"/>
              <a:t>exempelvis vara att </a:t>
            </a:r>
            <a:r>
              <a:rPr lang="en-GB"/>
              <a:t>placera  </a:t>
            </a:r>
            <a:r>
              <a:rPr lang="en-GB"/>
              <a:t>hamburgarmenyerna på högra sidan, för mobilanpassade system.</a:t>
            </a:r>
            <a:endParaRPr/>
          </a:p>
        </p:txBody>
      </p:sp>
      <p:sp>
        <p:nvSpPr>
          <p:cNvPr id="93" name="Google Shape;93;p18"/>
          <p:cNvSpPr txBox="1"/>
          <p:nvPr>
            <p:ph type="title"/>
          </p:nvPr>
        </p:nvSpPr>
        <p:spPr>
          <a:xfrm>
            <a:off x="207450" y="102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2"/>
                </a:solidFill>
              </a:rPr>
              <a:t>UI för mobiler</a:t>
            </a:r>
            <a:endParaRPr/>
          </a:p>
        </p:txBody>
      </p:sp>
      <p:sp>
        <p:nvSpPr>
          <p:cNvPr id="94" name="Google Shape;94;p18"/>
          <p:cNvSpPr txBox="1"/>
          <p:nvPr/>
        </p:nvSpPr>
        <p:spPr>
          <a:xfrm>
            <a:off x="0" y="4799475"/>
            <a:ext cx="3748200" cy="29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t>Bild från: </a:t>
            </a:r>
            <a:r>
              <a:rPr lang="en-GB" sz="800" u="sng">
                <a:solidFill>
                  <a:schemeClr val="hlink"/>
                </a:solidFill>
                <a:hlinkClick r:id="rId3"/>
              </a:rPr>
              <a:t>https://www.toptal.com/designers/ux/mobile-ux-design-best-practices</a:t>
            </a:r>
            <a:endParaRPr sz="800"/>
          </a:p>
        </p:txBody>
      </p:sp>
      <p:pic>
        <p:nvPicPr>
          <p:cNvPr id="95" name="Google Shape;95;p18"/>
          <p:cNvPicPr preferRelativeResize="0"/>
          <p:nvPr/>
        </p:nvPicPr>
        <p:blipFill>
          <a:blip r:embed="rId4">
            <a:alphaModFix/>
          </a:blip>
          <a:stretch>
            <a:fillRect/>
          </a:stretch>
        </p:blipFill>
        <p:spPr>
          <a:xfrm>
            <a:off x="3697225" y="3751900"/>
            <a:ext cx="1829200" cy="139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UX</a:t>
            </a:r>
            <a:endParaRPr/>
          </a:p>
        </p:txBody>
      </p:sp>
      <p:sp>
        <p:nvSpPr>
          <p:cNvPr id="101" name="Google Shape;101;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a:solidFill>
                  <a:schemeClr val="dk1"/>
                </a:solidFill>
              </a:rPr>
              <a:t>T</a:t>
            </a:r>
            <a:r>
              <a:rPr lang="en-GB">
                <a:solidFill>
                  <a:schemeClr val="dk1"/>
                </a:solidFill>
              </a:rPr>
              <a:t>ypografi kan förmedla olika intryck med hjälp av typsnitt, tjocklek, versaler/gemener, seriffer/sans-serif: </a:t>
            </a:r>
            <a:endParaRPr>
              <a:solidFill>
                <a:schemeClr val="dk1"/>
              </a:solidFill>
            </a:endParaRPr>
          </a:p>
          <a:p>
            <a:pPr indent="-342900" lvl="0" marL="457200" rtl="0" algn="l">
              <a:spcBef>
                <a:spcPts val="2100"/>
              </a:spcBef>
              <a:spcAft>
                <a:spcPts val="0"/>
              </a:spcAft>
              <a:buClr>
                <a:schemeClr val="dk1"/>
              </a:buClr>
              <a:buSzPts val="1800"/>
              <a:buChar char="-"/>
            </a:pPr>
            <a:r>
              <a:rPr lang="en-GB">
                <a:solidFill>
                  <a:schemeClr val="dk1"/>
                </a:solidFill>
                <a:latin typeface="Antic Slab"/>
                <a:ea typeface="Antic Slab"/>
                <a:cs typeface="Antic Slab"/>
                <a:sym typeface="Antic Slab"/>
              </a:rPr>
              <a:t>Elegant</a:t>
            </a:r>
            <a:r>
              <a:rPr lang="en-GB">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b="1" lang="en-GB" u="sng">
                <a:solidFill>
                  <a:schemeClr val="dk1"/>
                </a:solidFill>
                <a:highlight>
                  <a:srgbClr val="FFFF00"/>
                </a:highlight>
                <a:latin typeface="Oswald"/>
                <a:ea typeface="Oswald"/>
                <a:cs typeface="Oswald"/>
                <a:sym typeface="Oswald"/>
              </a:rPr>
              <a:t>SKRIKIG</a:t>
            </a:r>
            <a:r>
              <a:rPr lang="en-GB">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latin typeface="Calibri"/>
                <a:ea typeface="Calibri"/>
                <a:cs typeface="Calibri"/>
                <a:sym typeface="Calibri"/>
              </a:rPr>
              <a:t>lugn</a:t>
            </a:r>
            <a:r>
              <a:rPr lang="en-GB">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latin typeface="Impact"/>
                <a:ea typeface="Impact"/>
                <a:cs typeface="Impact"/>
                <a:sym typeface="Impact"/>
              </a:rPr>
              <a:t>Robust</a:t>
            </a:r>
            <a:r>
              <a:rPr lang="en-GB">
                <a:solidFill>
                  <a:schemeClr val="dk1"/>
                </a:solidFill>
              </a:rPr>
              <a:t>, </a:t>
            </a:r>
            <a:endParaRPr>
              <a:solidFill>
                <a:schemeClr val="dk1"/>
              </a:solidFill>
            </a:endParaRPr>
          </a:p>
          <a:p>
            <a:pPr indent="-419100" lvl="0" marL="457200" rtl="0" algn="l">
              <a:spcBef>
                <a:spcPts val="0"/>
              </a:spcBef>
              <a:spcAft>
                <a:spcPts val="0"/>
              </a:spcAft>
              <a:buClr>
                <a:schemeClr val="dk1"/>
              </a:buClr>
              <a:buSzPts val="3000"/>
              <a:buFont typeface="Qwigley"/>
              <a:buChar char="-"/>
            </a:pPr>
            <a:r>
              <a:rPr lang="en-GB" sz="3000">
                <a:solidFill>
                  <a:schemeClr val="dk1"/>
                </a:solidFill>
                <a:latin typeface="Qwigley"/>
                <a:ea typeface="Qwigley"/>
                <a:cs typeface="Qwigley"/>
                <a:sym typeface="Qwigley"/>
              </a:rPr>
              <a:t>kreativ</a:t>
            </a:r>
            <a:endParaRPr sz="3000">
              <a:latin typeface="Qwigley"/>
              <a:ea typeface="Qwigley"/>
              <a:cs typeface="Qwigley"/>
              <a:sym typeface="Qwigle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UX</a:t>
            </a:r>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En bild säger mer än tusen ord, och kan kommunicera detta snabbare och effektivare än text. Om en designs viktigaste roll är att förmedla ett budskap. Då förstår vi att bilder är ett väldigt viktigt verktyg för UX.</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1627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UX</a:t>
            </a:r>
            <a:endParaRPr/>
          </a:p>
        </p:txBody>
      </p:sp>
      <p:pic>
        <p:nvPicPr>
          <p:cNvPr id="113" name="Google Shape;113;p21"/>
          <p:cNvPicPr preferRelativeResize="0"/>
          <p:nvPr/>
        </p:nvPicPr>
        <p:blipFill>
          <a:blip r:embed="rId3">
            <a:alphaModFix/>
          </a:blip>
          <a:stretch>
            <a:fillRect/>
          </a:stretch>
        </p:blipFill>
        <p:spPr>
          <a:xfrm>
            <a:off x="1683100" y="735400"/>
            <a:ext cx="4647906" cy="5143501"/>
          </a:xfrm>
          <a:prstGeom prst="rect">
            <a:avLst/>
          </a:prstGeom>
          <a:noFill/>
          <a:ln>
            <a:noFill/>
          </a:ln>
        </p:spPr>
      </p:pic>
      <p:sp>
        <p:nvSpPr>
          <p:cNvPr id="114" name="Google Shape;114;p21"/>
          <p:cNvSpPr txBox="1"/>
          <p:nvPr/>
        </p:nvSpPr>
        <p:spPr>
          <a:xfrm>
            <a:off x="50725" y="4743425"/>
            <a:ext cx="4007400" cy="3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t>Bild från: </a:t>
            </a:r>
            <a:r>
              <a:rPr lang="en-GB" sz="900" u="sng">
                <a:solidFill>
                  <a:schemeClr val="hlink"/>
                </a:solidFill>
                <a:hlinkClick r:id="rId4"/>
              </a:rPr>
              <a:t>https://effymoom.blogspot.com/2018/09/colors-and-emotions.html</a:t>
            </a:r>
            <a:endParaRPr sz="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UX</a:t>
            </a:r>
            <a:endParaRPr/>
          </a:p>
        </p:txBody>
      </p:sp>
      <p:sp>
        <p:nvSpPr>
          <p:cNvPr id="120" name="Google Shape;120;p22"/>
          <p:cNvSpPr txBox="1"/>
          <p:nvPr>
            <p:ph idx="1" type="body"/>
          </p:nvPr>
        </p:nvSpPr>
        <p:spPr>
          <a:xfrm>
            <a:off x="311700" y="976975"/>
            <a:ext cx="8520600" cy="35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Undersök</a:t>
            </a:r>
            <a:r>
              <a:rPr lang="en-GB"/>
              <a:t> några webbsidor och försök se vad dessa förmedlar via typografi, bilder, färg och layout:</a:t>
            </a:r>
            <a:endParaRPr/>
          </a:p>
          <a:p>
            <a:pPr indent="0" lvl="0" marL="0" rtl="0" algn="l">
              <a:spcBef>
                <a:spcPts val="1600"/>
              </a:spcBef>
              <a:spcAft>
                <a:spcPts val="0"/>
              </a:spcAft>
              <a:buClr>
                <a:schemeClr val="dk1"/>
              </a:buClr>
              <a:buSzPts val="1100"/>
              <a:buFont typeface="Arial"/>
              <a:buNone/>
            </a:pPr>
            <a:r>
              <a:rPr lang="en-GB"/>
              <a:t>Tandläkarklinik: </a:t>
            </a:r>
            <a:r>
              <a:rPr lang="en-GB" sz="1100" u="sng">
                <a:solidFill>
                  <a:schemeClr val="hlink"/>
                </a:solidFill>
                <a:hlinkClick r:id="rId3"/>
              </a:rPr>
              <a:t>https://familydental.se/</a:t>
            </a:r>
            <a:endParaRPr sz="1100"/>
          </a:p>
          <a:p>
            <a:pPr indent="0" lvl="0" marL="0" rtl="0" algn="l">
              <a:spcBef>
                <a:spcPts val="1600"/>
              </a:spcBef>
              <a:spcAft>
                <a:spcPts val="0"/>
              </a:spcAft>
              <a:buClr>
                <a:schemeClr val="dk1"/>
              </a:buClr>
              <a:buSzPts val="1100"/>
              <a:buFont typeface="Arial"/>
              <a:buNone/>
            </a:pPr>
            <a:r>
              <a:rPr lang="en-GB"/>
              <a:t>Aftonbladet: </a:t>
            </a:r>
            <a:r>
              <a:rPr lang="en-GB" sz="1100" u="sng">
                <a:solidFill>
                  <a:schemeClr val="hlink"/>
                </a:solidFill>
                <a:hlinkClick r:id="rId4"/>
              </a:rPr>
              <a:t>https://www.aftonbladet.se/</a:t>
            </a:r>
            <a:endParaRPr/>
          </a:p>
          <a:p>
            <a:pPr indent="0" lvl="0" marL="0" rtl="0" algn="l">
              <a:spcBef>
                <a:spcPts val="1600"/>
              </a:spcBef>
              <a:spcAft>
                <a:spcPts val="21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Tillgänglighet</a:t>
            </a:r>
            <a:endParaRPr/>
          </a:p>
        </p:txBody>
      </p:sp>
      <p:sp>
        <p:nvSpPr>
          <p:cNvPr id="126" name="Google Shape;126;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Tillgänglighet berör många områden. Vissa exempel på dessa är:</a:t>
            </a:r>
            <a:endParaRPr/>
          </a:p>
          <a:p>
            <a:pPr indent="-342900" lvl="0" marL="457200" rtl="0" algn="l">
              <a:spcBef>
                <a:spcPts val="1600"/>
              </a:spcBef>
              <a:spcAft>
                <a:spcPts val="0"/>
              </a:spcAft>
              <a:buSzPts val="1800"/>
              <a:buChar char="-"/>
            </a:pPr>
            <a:r>
              <a:rPr lang="en-GB"/>
              <a:t>Tillgängligt för olika enheter </a:t>
            </a:r>
            <a:endParaRPr/>
          </a:p>
          <a:p>
            <a:pPr indent="-342900" lvl="0" marL="457200" rtl="0" algn="l">
              <a:spcBef>
                <a:spcPts val="0"/>
              </a:spcBef>
              <a:spcAft>
                <a:spcPts val="0"/>
              </a:spcAft>
              <a:buSzPts val="1800"/>
              <a:buChar char="-"/>
            </a:pPr>
            <a:r>
              <a:rPr lang="en-GB"/>
              <a:t>Tillgängligt för olika browsers</a:t>
            </a:r>
            <a:endParaRPr/>
          </a:p>
          <a:p>
            <a:pPr indent="-342900" lvl="0" marL="457200" rtl="0" algn="l">
              <a:spcBef>
                <a:spcPts val="0"/>
              </a:spcBef>
              <a:spcAft>
                <a:spcPts val="0"/>
              </a:spcAft>
              <a:buSzPts val="1800"/>
              <a:buChar char="-"/>
            </a:pPr>
            <a:r>
              <a:rPr lang="en-GB"/>
              <a:t>Tillgängligt för sämre internetuppkopplingar</a:t>
            </a:r>
            <a:endParaRPr/>
          </a:p>
          <a:p>
            <a:pPr indent="0" lvl="0" marL="0" rtl="0" algn="l">
              <a:spcBef>
                <a:spcPts val="1600"/>
              </a:spcBef>
              <a:spcAft>
                <a:spcPts val="0"/>
              </a:spcAft>
              <a:buNone/>
            </a:pPr>
            <a:r>
              <a:rPr lang="en-GB"/>
              <a:t>Tillgängligheten ökar med bl.a:</a:t>
            </a:r>
            <a:endParaRPr/>
          </a:p>
          <a:p>
            <a:pPr indent="-342900" lvl="0" marL="457200" rtl="0" algn="l">
              <a:spcBef>
                <a:spcPts val="1600"/>
              </a:spcBef>
              <a:spcAft>
                <a:spcPts val="0"/>
              </a:spcAft>
              <a:buSzPts val="1800"/>
              <a:buChar char="-"/>
            </a:pPr>
            <a:r>
              <a:rPr lang="en-GB"/>
              <a:t>Responsive design.</a:t>
            </a:r>
            <a:endParaRPr/>
          </a:p>
          <a:p>
            <a:pPr indent="-342900" lvl="0" marL="457200" rtl="0" algn="l">
              <a:spcBef>
                <a:spcPts val="0"/>
              </a:spcBef>
              <a:spcAft>
                <a:spcPts val="0"/>
              </a:spcAft>
              <a:buSzPts val="1800"/>
              <a:buChar char="-"/>
            </a:pPr>
            <a:r>
              <a:rPr lang="en-GB"/>
              <a:t>Graceful degradation</a:t>
            </a:r>
            <a:r>
              <a:rPr lang="en-GB"/>
              <a:t> eller progressive enhancement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