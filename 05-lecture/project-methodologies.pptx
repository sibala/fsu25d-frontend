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Nunito"/>
      <p:regular r:id="rId46"/>
      <p:bold r:id="rId47"/>
      <p:italic r:id="rId48"/>
      <p:boldItalic r:id="rId49"/>
    </p:embeddedFont>
    <p:embeddedFont>
      <p:font typeface="Maven Pro"/>
      <p:regular r:id="rId50"/>
      <p:bold r:id="rId51"/>
    </p:embeddedFont>
    <p:embeddedFont>
      <p:font typeface="Arial Black"/>
      <p:regular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Nuni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italic.fntdata"/><Relationship Id="rId47" Type="http://schemas.openxmlformats.org/officeDocument/2006/relationships/font" Target="fonts/Nunito-bold.fntdata"/><Relationship Id="rId49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avenPro-bold.fntdata"/><Relationship Id="rId50" Type="http://schemas.openxmlformats.org/officeDocument/2006/relationships/font" Target="fonts/MavenPro-regular.fntdata"/><Relationship Id="rId52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a2796c1f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1a2796c1f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aa6bd53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1aa6bd53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aa6bd53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1aa6bd53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aa6bd537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1aa6bd537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aa6bd537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aa6bd537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a6bd537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a6bd537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aa6bd537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aa6bd537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1aa6bd537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1aa6bd537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aa6bd537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1aa6bd537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1aa6bd537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1aa6bd537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1aa6bd537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1aa6bd537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aa6bd537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aa6bd537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1aa6bd537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1aa6bd537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1aa6bd537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1aa6bd537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1aa6bd537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1aa6bd537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aa6bd537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1aa6bd537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aa6bd537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1aa6bd537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1aa6bd537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1aa6bd537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1aa6bd537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1aa6bd537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1aa6bd537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1aa6bd537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aa6bd5370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aa6bd537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1aa6bd537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1aa6bd537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1aa6bd537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1aa6bd537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1aa6bd537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1aa6bd537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1aa6bd5370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1aa6bd537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1aa6bd537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1aa6bd537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1aa6bd5370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1aa6bd5370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1aa6bd537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1aa6bd537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1aa6bd5370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1aa6bd5370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1aa6bd5370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1aa6bd5370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1aa6bd5370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1aa6bd5370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1aa6bd5370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1aa6bd5370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1aa6bd5370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1aa6bd5370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1aa6bd5370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1aa6bd5370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1aa6bd5370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1aa6bd5370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1aa6bd5370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1aa6bd5370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1aa6bd5370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1aa6bd5370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1aa6bd5370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1aa6bd5370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1aa6bd5370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1aa6bd5370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0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agilealliance.org/agile-essentials/" TargetMode="External"/><Relationship Id="rId4" Type="http://schemas.openxmlformats.org/officeDocument/2006/relationships/hyperlink" Target="https://scrumguides.org/scrum-guide.html" TargetMode="External"/><Relationship Id="rId5" Type="http://schemas.openxmlformats.org/officeDocument/2006/relationships/hyperlink" Target="https://www.atlassian.com/software/jira/guides/getting-started/introduction#what-is-jira-software" TargetMode="External"/><Relationship Id="rId6" Type="http://schemas.openxmlformats.org/officeDocument/2006/relationships/hyperlink" Target="https://www.atlassian.com/software/ji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Project M</a:t>
            </a:r>
            <a:r>
              <a:rPr lang="sv"/>
              <a:t>ethodologies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Introduction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303800" y="16548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Traditional Methodologies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Agile Methodology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Scrum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Scrum Framework: Roles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Scrum Framework: Ceremonies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Scrum Framework: Artifacts</a:t>
            </a:r>
            <a:endParaRPr/>
          </a:p>
          <a:p>
            <a:pPr indent="-177800" lvl="0" marL="23495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sv"/>
              <a:t>Resources and online Scrum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Traditional Methodologies: Waterfall Model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1636750"/>
            <a:ext cx="36198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2085" lvl="0" marL="234950" marR="2311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You complete one phase (e.g. design) before moving on to the next phase(e.g. development)</a:t>
            </a:r>
            <a:endParaRPr/>
          </a:p>
          <a:p>
            <a:pPr indent="-172085" lvl="0" marL="234950" marR="5080" rtl="0" algn="l">
              <a:lnSpc>
                <a:spcPct val="91500"/>
              </a:lnSpc>
              <a:spcBef>
                <a:spcPts val="94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You rarely aim to re-visit a ‘phase’ once it’s completed. That means, you better get whatever you’re doing right the first time!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5650" y="1636747"/>
            <a:ext cx="3914725" cy="261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Traditional Methodologies: Waterfall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662625"/>
            <a:ext cx="3200700" cy="19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171450" lvl="0" marL="234950" rtl="0" algn="l">
              <a:lnSpc>
                <a:spcPct val="108809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You don’t realize any value until the end of the project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You leave the testing until the end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You don’t seek approval from the stakeholders </a:t>
            </a:r>
            <a:r>
              <a:rPr lang="sv"/>
              <a:t>until</a:t>
            </a:r>
            <a:r>
              <a:rPr lang="sv"/>
              <a:t> late in the process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Takes too long…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16"/>
          <p:cNvGrpSpPr/>
          <p:nvPr/>
        </p:nvGrpSpPr>
        <p:grpSpPr>
          <a:xfrm>
            <a:off x="4829004" y="1668959"/>
            <a:ext cx="3488436" cy="2329279"/>
            <a:chOff x="6438900" y="1600200"/>
            <a:chExt cx="5334000" cy="3561588"/>
          </a:xfrm>
        </p:grpSpPr>
        <p:pic>
          <p:nvPicPr>
            <p:cNvPr id="298" name="Google Shape;29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38900" y="1600200"/>
              <a:ext cx="5334000" cy="35615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" name="Google Shape;299;p16"/>
            <p:cNvSpPr/>
            <p:nvPr/>
          </p:nvSpPr>
          <p:spPr>
            <a:xfrm>
              <a:off x="6803136" y="2938272"/>
              <a:ext cx="1540509" cy="355600"/>
            </a:xfrm>
            <a:custGeom>
              <a:rect b="b" l="l" r="r" t="t"/>
              <a:pathLst>
                <a:path extrusionOk="0" h="355600" w="1540509">
                  <a:moveTo>
                    <a:pt x="1246632" y="0"/>
                  </a:moveTo>
                  <a:lnTo>
                    <a:pt x="0" y="0"/>
                  </a:lnTo>
                  <a:lnTo>
                    <a:pt x="0" y="355091"/>
                  </a:lnTo>
                  <a:lnTo>
                    <a:pt x="1246632" y="355091"/>
                  </a:lnTo>
                  <a:lnTo>
                    <a:pt x="1246632" y="147954"/>
                  </a:lnTo>
                  <a:lnTo>
                    <a:pt x="1540002" y="53086"/>
                  </a:lnTo>
                  <a:lnTo>
                    <a:pt x="1246632" y="59181"/>
                  </a:lnTo>
                  <a:lnTo>
                    <a:pt x="1246632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16"/>
          <p:cNvSpPr txBox="1"/>
          <p:nvPr/>
        </p:nvSpPr>
        <p:spPr>
          <a:xfrm>
            <a:off x="5100600" y="2586000"/>
            <a:ext cx="8064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Takes too long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502962" y="1456646"/>
            <a:ext cx="1068927" cy="232918"/>
          </a:xfrm>
          <a:custGeom>
            <a:rect b="b" l="l" r="r" t="t"/>
            <a:pathLst>
              <a:path extrusionOk="0" h="355600" w="1631950">
                <a:moveTo>
                  <a:pt x="1631950" y="0"/>
                </a:moveTo>
                <a:lnTo>
                  <a:pt x="385318" y="0"/>
                </a:lnTo>
                <a:lnTo>
                  <a:pt x="385318" y="207137"/>
                </a:lnTo>
                <a:lnTo>
                  <a:pt x="0" y="329691"/>
                </a:lnTo>
                <a:lnTo>
                  <a:pt x="385318" y="295910"/>
                </a:lnTo>
                <a:lnTo>
                  <a:pt x="385318" y="355091"/>
                </a:lnTo>
                <a:lnTo>
                  <a:pt x="1631950" y="355091"/>
                </a:lnTo>
                <a:lnTo>
                  <a:pt x="1631950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900">
                <a:solidFill>
                  <a:schemeClr val="lt1"/>
                </a:solidFill>
              </a:rPr>
              <a:t>      Changes</a:t>
            </a:r>
            <a:endParaRPr sz="1100"/>
          </a:p>
        </p:txBody>
      </p:sp>
      <p:sp>
        <p:nvSpPr>
          <p:cNvPr id="302" name="Google Shape;302;p16"/>
          <p:cNvSpPr/>
          <p:nvPr/>
        </p:nvSpPr>
        <p:spPr>
          <a:xfrm>
            <a:off x="7332607" y="2520155"/>
            <a:ext cx="1070591" cy="233750"/>
          </a:xfrm>
          <a:custGeom>
            <a:rect b="b" l="l" r="r" t="t"/>
            <a:pathLst>
              <a:path extrusionOk="0" h="356870" w="1634490">
                <a:moveTo>
                  <a:pt x="1633982" y="0"/>
                </a:moveTo>
                <a:lnTo>
                  <a:pt x="385825" y="0"/>
                </a:lnTo>
                <a:lnTo>
                  <a:pt x="385825" y="208025"/>
                </a:lnTo>
                <a:lnTo>
                  <a:pt x="0" y="331088"/>
                </a:lnTo>
                <a:lnTo>
                  <a:pt x="385825" y="297179"/>
                </a:lnTo>
                <a:lnTo>
                  <a:pt x="385825" y="356615"/>
                </a:lnTo>
                <a:lnTo>
                  <a:pt x="1633982" y="356615"/>
                </a:lnTo>
                <a:lnTo>
                  <a:pt x="1633982" y="0"/>
                </a:lnTo>
                <a:close/>
              </a:path>
            </a:pathLst>
          </a:custGeom>
          <a:solidFill>
            <a:srgbClr val="006F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7677574" y="2563275"/>
            <a:ext cx="725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Skipped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1369200" y="3790450"/>
            <a:ext cx="37314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5080" rtl="0" algn="l">
              <a:lnSpc>
                <a:spcPct val="812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sv" sz="1600">
                <a:solidFill>
                  <a:srgbClr val="F57A1A"/>
                </a:solidFill>
                <a:latin typeface="Nunito"/>
                <a:ea typeface="Nunito"/>
                <a:cs typeface="Nunito"/>
                <a:sym typeface="Nunito"/>
              </a:rPr>
              <a:t>This approach is highly risky, often more costly and generally less efficient than Agile approaches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Agile Methodology</a:t>
            </a:r>
            <a:endParaRPr/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1303800" y="1609050"/>
            <a:ext cx="70305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sv"/>
              <a:t>A</a:t>
            </a:r>
            <a:r>
              <a:rPr lang="sv"/>
              <a:t>gile meaning ability to move quick and easy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967650" y="2931350"/>
            <a:ext cx="1158088" cy="596074"/>
          </a:xfrm>
          <a:custGeom>
            <a:rect b="b" l="l" r="r" t="t"/>
            <a:pathLst>
              <a:path extrusionOk="0" h="800100" w="1554480">
                <a:moveTo>
                  <a:pt x="0" y="0"/>
                </a:moveTo>
                <a:lnTo>
                  <a:pt x="0" y="800100"/>
                </a:lnTo>
                <a:lnTo>
                  <a:pt x="1554480" y="640080"/>
                </a:lnTo>
                <a:lnTo>
                  <a:pt x="1554480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12" name="Google Shape;312;p17"/>
          <p:cNvSpPr txBox="1"/>
          <p:nvPr/>
        </p:nvSpPr>
        <p:spPr>
          <a:xfrm>
            <a:off x="1183655" y="3116689"/>
            <a:ext cx="5634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Rapid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2212096" y="2931350"/>
            <a:ext cx="1157141" cy="596074"/>
          </a:xfrm>
          <a:custGeom>
            <a:rect b="b" l="l" r="r" t="t"/>
            <a:pathLst>
              <a:path extrusionOk="0" h="800100" w="1553210">
                <a:moveTo>
                  <a:pt x="0" y="0"/>
                </a:moveTo>
                <a:lnTo>
                  <a:pt x="0" y="800100"/>
                </a:lnTo>
                <a:lnTo>
                  <a:pt x="1552956" y="640080"/>
                </a:lnTo>
                <a:lnTo>
                  <a:pt x="1552956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A4A4A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 txBox="1"/>
          <p:nvPr/>
        </p:nvSpPr>
        <p:spPr>
          <a:xfrm>
            <a:off x="2375577" y="3116689"/>
            <a:ext cx="7173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3455408" y="2931350"/>
            <a:ext cx="1158087" cy="596074"/>
          </a:xfrm>
          <a:custGeom>
            <a:rect b="b" l="l" r="r" t="t"/>
            <a:pathLst>
              <a:path extrusionOk="0" h="800100" w="1554479">
                <a:moveTo>
                  <a:pt x="0" y="0"/>
                </a:moveTo>
                <a:lnTo>
                  <a:pt x="0" y="800100"/>
                </a:lnTo>
                <a:lnTo>
                  <a:pt x="1554479" y="640080"/>
                </a:lnTo>
                <a:lnTo>
                  <a:pt x="1554479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 txBox="1"/>
          <p:nvPr/>
        </p:nvSpPr>
        <p:spPr>
          <a:xfrm>
            <a:off x="3700430" y="3116689"/>
            <a:ext cx="502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Agile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698719" y="2931350"/>
            <a:ext cx="1158087" cy="596074"/>
          </a:xfrm>
          <a:custGeom>
            <a:rect b="b" l="l" r="r" t="t"/>
            <a:pathLst>
              <a:path extrusionOk="0" h="800100" w="1554479">
                <a:moveTo>
                  <a:pt x="0" y="0"/>
                </a:moveTo>
                <a:lnTo>
                  <a:pt x="0" y="800100"/>
                </a:lnTo>
                <a:lnTo>
                  <a:pt x="1554479" y="640080"/>
                </a:lnTo>
                <a:lnTo>
                  <a:pt x="1554479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4471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18" name="Google Shape;318;p17"/>
          <p:cNvSpPr txBox="1"/>
          <p:nvPr/>
        </p:nvSpPr>
        <p:spPr>
          <a:xfrm>
            <a:off x="4786443" y="3116689"/>
            <a:ext cx="10692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Quality-Driven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942031" y="2931350"/>
            <a:ext cx="1158087" cy="596074"/>
          </a:xfrm>
          <a:custGeom>
            <a:rect b="b" l="l" r="r" t="t"/>
            <a:pathLst>
              <a:path extrusionOk="0" h="800100" w="1554479">
                <a:moveTo>
                  <a:pt x="0" y="0"/>
                </a:moveTo>
                <a:lnTo>
                  <a:pt x="0" y="800100"/>
                </a:lnTo>
                <a:lnTo>
                  <a:pt x="1554479" y="640080"/>
                </a:lnTo>
                <a:lnTo>
                  <a:pt x="1554479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6FAC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6102830" y="3116689"/>
            <a:ext cx="946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Cooperative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7185342" y="2931350"/>
            <a:ext cx="1158087" cy="596074"/>
          </a:xfrm>
          <a:custGeom>
            <a:rect b="b" l="l" r="r" t="t"/>
            <a:pathLst>
              <a:path extrusionOk="0" h="800100" w="1554479">
                <a:moveTo>
                  <a:pt x="0" y="0"/>
                </a:moveTo>
                <a:lnTo>
                  <a:pt x="0" y="800100"/>
                </a:lnTo>
                <a:lnTo>
                  <a:pt x="1554479" y="640080"/>
                </a:lnTo>
                <a:lnTo>
                  <a:pt x="1554479" y="160020"/>
                </a:lnTo>
                <a:lnTo>
                  <a:pt x="0" y="0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7482751" y="3116700"/>
            <a:ext cx="7173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Iterative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>
            <p:ph idx="1" type="body"/>
          </p:nvPr>
        </p:nvSpPr>
        <p:spPr>
          <a:xfrm>
            <a:off x="1303800" y="2005050"/>
            <a:ext cx="70305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27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sv"/>
              <a:t>Not a process, it's a philosophy or set of values…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4 values of the Agile Manifesto</a:t>
            </a:r>
            <a:endParaRPr/>
          </a:p>
        </p:txBody>
      </p:sp>
      <p:pic>
        <p:nvPicPr>
          <p:cNvPr id="329" name="Google Shape;3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75" y="1842200"/>
            <a:ext cx="8562274" cy="28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 txBox="1"/>
          <p:nvPr>
            <p:ph idx="1" type="body"/>
          </p:nvPr>
        </p:nvSpPr>
        <p:spPr>
          <a:xfrm>
            <a:off x="4124000" y="2622500"/>
            <a:ext cx="55371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ROI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2920300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7250"/>
          </a:p>
        </p:txBody>
      </p:sp>
      <p:sp>
        <p:nvSpPr>
          <p:cNvPr id="337" name="Google Shape;337;p19"/>
          <p:cNvSpPr txBox="1"/>
          <p:nvPr/>
        </p:nvSpPr>
        <p:spPr>
          <a:xfrm>
            <a:off x="1303800" y="1336850"/>
            <a:ext cx="5939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3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Our highest priority is to satisfy the customer through early and continuous delivery of valuable software.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CHANGEABILITY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7250"/>
          </a:p>
        </p:txBody>
      </p:sp>
      <p:sp>
        <p:nvSpPr>
          <p:cNvPr id="345" name="Google Shape;345;p20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Welcome changing requirements, even late in development. Agile processes harness change for the customer's competitive advantage.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GETTING REAL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7250"/>
          </a:p>
        </p:txBody>
      </p:sp>
      <p:sp>
        <p:nvSpPr>
          <p:cNvPr id="353" name="Google Shape;353;p21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Deliver working software frequently, from a couple of weeks to a couple of months, with a preference to the shorter timescale.</a:t>
            </a:r>
            <a:endParaRPr sz="1300">
              <a:solidFill>
                <a:schemeClr val="dk2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ALIGNMENT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7250"/>
          </a:p>
        </p:txBody>
      </p:sp>
      <p:sp>
        <p:nvSpPr>
          <p:cNvPr id="361" name="Google Shape;361;p22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Business people and developers must work together daily throughout the project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 txBox="1"/>
          <p:nvPr>
            <p:ph idx="1" type="body"/>
          </p:nvPr>
        </p:nvSpPr>
        <p:spPr>
          <a:xfrm>
            <a:off x="3073950" y="2470225"/>
            <a:ext cx="5456700" cy="15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SELF-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ORGANIZATION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17250"/>
          </a:p>
        </p:txBody>
      </p:sp>
      <p:sp>
        <p:nvSpPr>
          <p:cNvPr id="369" name="Google Shape;369;p23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Build projects around motivated individuals. Give them the environment and support they need, and trust them to get the job done.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BANDWIDTH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17250"/>
          </a:p>
        </p:txBody>
      </p:sp>
      <p:sp>
        <p:nvSpPr>
          <p:cNvPr id="377" name="Google Shape;377;p24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most efficient and effective method of conveying information to and within a development team is face-to-face conversation.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DONE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endParaRPr sz="17250"/>
          </a:p>
        </p:txBody>
      </p:sp>
      <p:sp>
        <p:nvSpPr>
          <p:cNvPr id="385" name="Google Shape;385;p25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</a:t>
            </a: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orking software is the primary measure of progress.</a:t>
            </a:r>
            <a:endParaRPr sz="1300">
              <a:solidFill>
                <a:schemeClr val="dk2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SUSTAINABILITY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endParaRPr sz="17250"/>
          </a:p>
        </p:txBody>
      </p:sp>
      <p:sp>
        <p:nvSpPr>
          <p:cNvPr id="393" name="Google Shape;393;p26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Agile processes promote sustainable development. The sponsors, developers, and users should be able to maintain a constant pace indefinitely.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 txBox="1"/>
          <p:nvPr>
            <p:ph idx="1" type="body"/>
          </p:nvPr>
        </p:nvSpPr>
        <p:spPr>
          <a:xfrm>
            <a:off x="3073950" y="2622500"/>
            <a:ext cx="54567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IMPROVEMENT</a:t>
            </a:r>
            <a:endParaRPr b="1" sz="4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v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1789875" y="491825"/>
            <a:ext cx="1664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sz="17250"/>
          </a:p>
        </p:txBody>
      </p:sp>
      <p:sp>
        <p:nvSpPr>
          <p:cNvPr id="401" name="Google Shape;401;p27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Continuous attention to technical excellence and good design enhances agility.</a:t>
            </a:r>
            <a:endParaRPr sz="1300">
              <a:solidFill>
                <a:schemeClr val="dk2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8"/>
          <p:cNvSpPr txBox="1"/>
          <p:nvPr>
            <p:ph idx="1" type="body"/>
          </p:nvPr>
        </p:nvSpPr>
        <p:spPr>
          <a:xfrm>
            <a:off x="3210000" y="2488000"/>
            <a:ext cx="5456700" cy="11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KEEP IT SIMPLE STUPID (KISS)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1083975" y="544175"/>
            <a:ext cx="1978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sz="17250"/>
          </a:p>
        </p:txBody>
      </p:sp>
      <p:sp>
        <p:nvSpPr>
          <p:cNvPr id="409" name="Google Shape;409;p28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Simplicity — the art of maximizing the amount of work not done — is essential.</a:t>
            </a:r>
            <a:endParaRPr sz="1300">
              <a:solidFill>
                <a:schemeClr val="dk2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"/>
          <p:cNvSpPr txBox="1"/>
          <p:nvPr>
            <p:ph idx="1" type="body"/>
          </p:nvPr>
        </p:nvSpPr>
        <p:spPr>
          <a:xfrm>
            <a:off x="3938525" y="2773750"/>
            <a:ext cx="54567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EMERGE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"/>
          <p:cNvSpPr txBox="1"/>
          <p:nvPr/>
        </p:nvSpPr>
        <p:spPr>
          <a:xfrm>
            <a:off x="1791575" y="512775"/>
            <a:ext cx="1978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r>
            <a:endParaRPr sz="17250"/>
          </a:p>
        </p:txBody>
      </p:sp>
      <p:sp>
        <p:nvSpPr>
          <p:cNvPr id="417" name="Google Shape;417;p29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best architectures, requirements, and designs emerge from self-organizing teams.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The 12 Agile principles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0"/>
          <p:cNvSpPr txBox="1"/>
          <p:nvPr>
            <p:ph idx="1" type="body"/>
          </p:nvPr>
        </p:nvSpPr>
        <p:spPr>
          <a:xfrm>
            <a:off x="3161050" y="2757575"/>
            <a:ext cx="60867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sv" sz="4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INSPECT &amp; ADJUST</a:t>
            </a:r>
            <a:endParaRPr b="1"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942500" y="502300"/>
            <a:ext cx="1978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sv" sz="17250">
                <a:solidFill>
                  <a:srgbClr val="F57A1A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r>
            <a:endParaRPr sz="17250"/>
          </a:p>
        </p:txBody>
      </p:sp>
      <p:sp>
        <p:nvSpPr>
          <p:cNvPr id="425" name="Google Shape;425;p30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At regular intervals, the team reflects on how to become more effective, then tunes and adjusts its behavior accordingly.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Various Agile Methodologies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250" y="1371600"/>
            <a:ext cx="3302050" cy="32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What is Scrum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 txBox="1"/>
          <p:nvPr/>
        </p:nvSpPr>
        <p:spPr>
          <a:xfrm>
            <a:off x="1303800" y="1350675"/>
            <a:ext cx="6232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234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Scrum is an agile lightweight framework that allows us to focus on delivering the highest business value in the shortest time.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2085" lvl="0" marL="234950" marR="5080" rtl="0" algn="l">
              <a:lnSpc>
                <a:spcPct val="109523"/>
              </a:lnSpc>
              <a:spcBef>
                <a:spcPts val="104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It allows us to rapidly and repeatedly inspect actual working software (every two weeks to one month).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1450" lvl="0" marL="234950" rtl="0" algn="l">
              <a:lnSpc>
                <a:spcPct val="114761"/>
              </a:lnSpc>
              <a:spcBef>
                <a:spcPts val="76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business sets the priorities. Teams self-organize to determine the best way to deliver the highest priority features.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2085" lvl="0" marL="234950" marR="177800" rtl="0" algn="l">
              <a:lnSpc>
                <a:spcPct val="109523"/>
              </a:lnSpc>
              <a:spcBef>
                <a:spcPts val="104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Every two weeks to a month anyone can see real working software and decide to release it as is or continue to enhance it for another sprint.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2085" lvl="0" marL="234950" marR="177800" rtl="0" algn="l">
              <a:lnSpc>
                <a:spcPct val="109523"/>
              </a:lnSpc>
              <a:spcBef>
                <a:spcPts val="104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Scrum framework is purposefully incomplete, only defining the parts required to implement Scrum theory. Various processes, techniques and methods can be employed within the framework.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Scrum Origins</a:t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>
            <a:off x="3943350" y="3747000"/>
            <a:ext cx="1408747" cy="501427"/>
          </a:xfrm>
          <a:custGeom>
            <a:rect b="b" l="l" r="r" t="t"/>
            <a:pathLst>
              <a:path extrusionOk="0" h="589914" w="1943100">
                <a:moveTo>
                  <a:pt x="1844802" y="0"/>
                </a:moveTo>
                <a:lnTo>
                  <a:pt x="98298" y="0"/>
                </a:lnTo>
                <a:lnTo>
                  <a:pt x="60061" y="7733"/>
                </a:lnTo>
                <a:lnTo>
                  <a:pt x="28813" y="28813"/>
                </a:lnTo>
                <a:lnTo>
                  <a:pt x="7733" y="60061"/>
                </a:lnTo>
                <a:lnTo>
                  <a:pt x="0" y="98298"/>
                </a:lnTo>
                <a:lnTo>
                  <a:pt x="0" y="491489"/>
                </a:lnTo>
                <a:lnTo>
                  <a:pt x="7733" y="529726"/>
                </a:lnTo>
                <a:lnTo>
                  <a:pt x="28813" y="560974"/>
                </a:lnTo>
                <a:lnTo>
                  <a:pt x="60061" y="582054"/>
                </a:lnTo>
                <a:lnTo>
                  <a:pt x="98298" y="589788"/>
                </a:lnTo>
                <a:lnTo>
                  <a:pt x="1844802" y="589788"/>
                </a:lnTo>
                <a:lnTo>
                  <a:pt x="1883038" y="582054"/>
                </a:lnTo>
                <a:lnTo>
                  <a:pt x="1914286" y="560974"/>
                </a:lnTo>
                <a:lnTo>
                  <a:pt x="1935366" y="529726"/>
                </a:lnTo>
                <a:lnTo>
                  <a:pt x="1943100" y="491489"/>
                </a:lnTo>
                <a:lnTo>
                  <a:pt x="1943100" y="98298"/>
                </a:lnTo>
                <a:lnTo>
                  <a:pt x="1935366" y="60061"/>
                </a:lnTo>
                <a:lnTo>
                  <a:pt x="1914286" y="28813"/>
                </a:lnTo>
                <a:lnTo>
                  <a:pt x="1883038" y="7733"/>
                </a:lnTo>
                <a:lnTo>
                  <a:pt x="18448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4029075" y="3843525"/>
            <a:ext cx="1518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Controversies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45" name="Google Shape;445;p33"/>
          <p:cNvGrpSpPr/>
          <p:nvPr/>
        </p:nvGrpSpPr>
        <p:grpSpPr>
          <a:xfrm>
            <a:off x="542914" y="1597834"/>
            <a:ext cx="3333868" cy="2098198"/>
            <a:chOff x="618756" y="1678029"/>
            <a:chExt cx="4177779" cy="2158640"/>
          </a:xfrm>
        </p:grpSpPr>
        <p:sp>
          <p:nvSpPr>
            <p:cNvPr id="446" name="Google Shape;446;p33"/>
            <p:cNvSpPr/>
            <p:nvPr/>
          </p:nvSpPr>
          <p:spPr>
            <a:xfrm>
              <a:off x="618756" y="1678029"/>
              <a:ext cx="4145915" cy="1884679"/>
            </a:xfrm>
            <a:custGeom>
              <a:rect b="b" l="l" r="r" t="t"/>
              <a:pathLst>
                <a:path extrusionOk="0" h="1884679" w="4145915">
                  <a:moveTo>
                    <a:pt x="2518692" y="0"/>
                  </a:moveTo>
                  <a:lnTo>
                    <a:pt x="2469210" y="2672"/>
                  </a:lnTo>
                  <a:lnTo>
                    <a:pt x="2420783" y="8914"/>
                  </a:lnTo>
                  <a:lnTo>
                    <a:pt x="2373934" y="18618"/>
                  </a:lnTo>
                  <a:lnTo>
                    <a:pt x="2329190" y="31673"/>
                  </a:lnTo>
                  <a:lnTo>
                    <a:pt x="2287077" y="47971"/>
                  </a:lnTo>
                  <a:lnTo>
                    <a:pt x="2248118" y="67403"/>
                  </a:lnTo>
                  <a:lnTo>
                    <a:pt x="2212841" y="89858"/>
                  </a:lnTo>
                  <a:lnTo>
                    <a:pt x="2181770" y="115228"/>
                  </a:lnTo>
                  <a:lnTo>
                    <a:pt x="2155431" y="143404"/>
                  </a:lnTo>
                  <a:lnTo>
                    <a:pt x="2128162" y="127934"/>
                  </a:lnTo>
                  <a:lnTo>
                    <a:pt x="2068671" y="100899"/>
                  </a:lnTo>
                  <a:lnTo>
                    <a:pt x="1986094" y="74884"/>
                  </a:lnTo>
                  <a:lnTo>
                    <a:pt x="1934318" y="64011"/>
                  </a:lnTo>
                  <a:lnTo>
                    <a:pt x="1881780" y="56731"/>
                  </a:lnTo>
                  <a:lnTo>
                    <a:pt x="1828902" y="52965"/>
                  </a:lnTo>
                  <a:lnTo>
                    <a:pt x="1776106" y="52632"/>
                  </a:lnTo>
                  <a:lnTo>
                    <a:pt x="1723813" y="55653"/>
                  </a:lnTo>
                  <a:lnTo>
                    <a:pt x="1672446" y="61949"/>
                  </a:lnTo>
                  <a:lnTo>
                    <a:pt x="1622425" y="71439"/>
                  </a:lnTo>
                  <a:lnTo>
                    <a:pt x="1574174" y="84043"/>
                  </a:lnTo>
                  <a:lnTo>
                    <a:pt x="1528112" y="99683"/>
                  </a:lnTo>
                  <a:lnTo>
                    <a:pt x="1484664" y="118279"/>
                  </a:lnTo>
                  <a:lnTo>
                    <a:pt x="1444249" y="139750"/>
                  </a:lnTo>
                  <a:lnTo>
                    <a:pt x="1407289" y="164017"/>
                  </a:lnTo>
                  <a:lnTo>
                    <a:pt x="1374208" y="191000"/>
                  </a:lnTo>
                  <a:lnTo>
                    <a:pt x="1345425" y="220620"/>
                  </a:lnTo>
                  <a:lnTo>
                    <a:pt x="1297626" y="204903"/>
                  </a:lnTo>
                  <a:lnTo>
                    <a:pt x="1248135" y="191779"/>
                  </a:lnTo>
                  <a:lnTo>
                    <a:pt x="1197228" y="181280"/>
                  </a:lnTo>
                  <a:lnTo>
                    <a:pt x="1145178" y="173440"/>
                  </a:lnTo>
                  <a:lnTo>
                    <a:pt x="1092259" y="168290"/>
                  </a:lnTo>
                  <a:lnTo>
                    <a:pt x="1038744" y="165863"/>
                  </a:lnTo>
                  <a:lnTo>
                    <a:pt x="984908" y="166193"/>
                  </a:lnTo>
                  <a:lnTo>
                    <a:pt x="931024" y="169312"/>
                  </a:lnTo>
                  <a:lnTo>
                    <a:pt x="872996" y="175853"/>
                  </a:lnTo>
                  <a:lnTo>
                    <a:pt x="817129" y="185422"/>
                  </a:lnTo>
                  <a:lnTo>
                    <a:pt x="763619" y="197859"/>
                  </a:lnTo>
                  <a:lnTo>
                    <a:pt x="712662" y="213005"/>
                  </a:lnTo>
                  <a:lnTo>
                    <a:pt x="664454" y="230702"/>
                  </a:lnTo>
                  <a:lnTo>
                    <a:pt x="619189" y="250790"/>
                  </a:lnTo>
                  <a:lnTo>
                    <a:pt x="577065" y="273109"/>
                  </a:lnTo>
                  <a:lnTo>
                    <a:pt x="538275" y="297502"/>
                  </a:lnTo>
                  <a:lnTo>
                    <a:pt x="503017" y="323808"/>
                  </a:lnTo>
                  <a:lnTo>
                    <a:pt x="471485" y="351868"/>
                  </a:lnTo>
                  <a:lnTo>
                    <a:pt x="443874" y="381524"/>
                  </a:lnTo>
                  <a:lnTo>
                    <a:pt x="420382" y="412616"/>
                  </a:lnTo>
                  <a:lnTo>
                    <a:pt x="386531" y="478472"/>
                  </a:lnTo>
                  <a:lnTo>
                    <a:pt x="371498" y="548163"/>
                  </a:lnTo>
                  <a:lnTo>
                    <a:pt x="371527" y="584049"/>
                  </a:lnTo>
                  <a:lnTo>
                    <a:pt x="376847" y="620416"/>
                  </a:lnTo>
                  <a:lnTo>
                    <a:pt x="373367" y="626258"/>
                  </a:lnTo>
                  <a:lnTo>
                    <a:pt x="317781" y="632226"/>
                  </a:lnTo>
                  <a:lnTo>
                    <a:pt x="264591" y="642669"/>
                  </a:lnTo>
                  <a:lnTo>
                    <a:pt x="214429" y="657332"/>
                  </a:lnTo>
                  <a:lnTo>
                    <a:pt x="167927" y="675964"/>
                  </a:lnTo>
                  <a:lnTo>
                    <a:pt x="125718" y="698309"/>
                  </a:lnTo>
                  <a:lnTo>
                    <a:pt x="88433" y="724116"/>
                  </a:lnTo>
                  <a:lnTo>
                    <a:pt x="56706" y="753131"/>
                  </a:lnTo>
                  <a:lnTo>
                    <a:pt x="29500" y="787613"/>
                  </a:lnTo>
                  <a:lnTo>
                    <a:pt x="11134" y="823292"/>
                  </a:lnTo>
                  <a:lnTo>
                    <a:pt x="0" y="896047"/>
                  </a:lnTo>
                  <a:lnTo>
                    <a:pt x="6771" y="932028"/>
                  </a:lnTo>
                  <a:lnTo>
                    <a:pt x="43837" y="1000457"/>
                  </a:lnTo>
                  <a:lnTo>
                    <a:pt x="73671" y="1031809"/>
                  </a:lnTo>
                  <a:lnTo>
                    <a:pt x="110732" y="1060523"/>
                  </a:lnTo>
                  <a:lnTo>
                    <a:pt x="154790" y="1086050"/>
                  </a:lnTo>
                  <a:lnTo>
                    <a:pt x="205613" y="1107842"/>
                  </a:lnTo>
                  <a:lnTo>
                    <a:pt x="160523" y="1143326"/>
                  </a:lnTo>
                  <a:lnTo>
                    <a:pt x="126469" y="1182681"/>
                  </a:lnTo>
                  <a:lnTo>
                    <a:pt x="103966" y="1224931"/>
                  </a:lnTo>
                  <a:lnTo>
                    <a:pt x="93528" y="1269102"/>
                  </a:lnTo>
                  <a:lnTo>
                    <a:pt x="95669" y="1314217"/>
                  </a:lnTo>
                  <a:lnTo>
                    <a:pt x="123444" y="1381251"/>
                  </a:lnTo>
                  <a:lnTo>
                    <a:pt x="147246" y="1411584"/>
                  </a:lnTo>
                  <a:lnTo>
                    <a:pt x="176921" y="1439434"/>
                  </a:lnTo>
                  <a:lnTo>
                    <a:pt x="211917" y="1464531"/>
                  </a:lnTo>
                  <a:lnTo>
                    <a:pt x="251681" y="1486604"/>
                  </a:lnTo>
                  <a:lnTo>
                    <a:pt x="295659" y="1505382"/>
                  </a:lnTo>
                  <a:lnTo>
                    <a:pt x="343300" y="1520597"/>
                  </a:lnTo>
                  <a:lnTo>
                    <a:pt x="394051" y="1531976"/>
                  </a:lnTo>
                  <a:lnTo>
                    <a:pt x="447359" y="1539251"/>
                  </a:lnTo>
                  <a:lnTo>
                    <a:pt x="502671" y="1542150"/>
                  </a:lnTo>
                  <a:lnTo>
                    <a:pt x="559435" y="1540404"/>
                  </a:lnTo>
                  <a:lnTo>
                    <a:pt x="564604" y="1545992"/>
                  </a:lnTo>
                  <a:lnTo>
                    <a:pt x="597456" y="1577424"/>
                  </a:lnTo>
                  <a:lnTo>
                    <a:pt x="630482" y="1604333"/>
                  </a:lnTo>
                  <a:lnTo>
                    <a:pt x="666139" y="1629354"/>
                  </a:lnTo>
                  <a:lnTo>
                    <a:pt x="704232" y="1652459"/>
                  </a:lnTo>
                  <a:lnTo>
                    <a:pt x="744563" y="1673615"/>
                  </a:lnTo>
                  <a:lnTo>
                    <a:pt x="786938" y="1692794"/>
                  </a:lnTo>
                  <a:lnTo>
                    <a:pt x="831159" y="1709964"/>
                  </a:lnTo>
                  <a:lnTo>
                    <a:pt x="877031" y="1725096"/>
                  </a:lnTo>
                  <a:lnTo>
                    <a:pt x="924357" y="1738158"/>
                  </a:lnTo>
                  <a:lnTo>
                    <a:pt x="972941" y="1749122"/>
                  </a:lnTo>
                  <a:lnTo>
                    <a:pt x="1022587" y="1757955"/>
                  </a:lnTo>
                  <a:lnTo>
                    <a:pt x="1073098" y="1764629"/>
                  </a:lnTo>
                  <a:lnTo>
                    <a:pt x="1124279" y="1769112"/>
                  </a:lnTo>
                  <a:lnTo>
                    <a:pt x="1175934" y="1771374"/>
                  </a:lnTo>
                  <a:lnTo>
                    <a:pt x="1227865" y="1771385"/>
                  </a:lnTo>
                  <a:lnTo>
                    <a:pt x="1279877" y="1769115"/>
                  </a:lnTo>
                  <a:lnTo>
                    <a:pt x="1331774" y="1764533"/>
                  </a:lnTo>
                  <a:lnTo>
                    <a:pt x="1383359" y="1757609"/>
                  </a:lnTo>
                  <a:lnTo>
                    <a:pt x="1434437" y="1748313"/>
                  </a:lnTo>
                  <a:lnTo>
                    <a:pt x="1484811" y="1736613"/>
                  </a:lnTo>
                  <a:lnTo>
                    <a:pt x="1534284" y="1722481"/>
                  </a:lnTo>
                  <a:lnTo>
                    <a:pt x="1582661" y="1705885"/>
                  </a:lnTo>
                  <a:lnTo>
                    <a:pt x="1615761" y="1733875"/>
                  </a:lnTo>
                  <a:lnTo>
                    <a:pt x="1652414" y="1759856"/>
                  </a:lnTo>
                  <a:lnTo>
                    <a:pt x="1692374" y="1783712"/>
                  </a:lnTo>
                  <a:lnTo>
                    <a:pt x="1735395" y="1805326"/>
                  </a:lnTo>
                  <a:lnTo>
                    <a:pt x="1781232" y="1824583"/>
                  </a:lnTo>
                  <a:lnTo>
                    <a:pt x="1829639" y="1841366"/>
                  </a:lnTo>
                  <a:lnTo>
                    <a:pt x="1880370" y="1855560"/>
                  </a:lnTo>
                  <a:lnTo>
                    <a:pt x="1933181" y="1867048"/>
                  </a:lnTo>
                  <a:lnTo>
                    <a:pt x="1987321" y="1875696"/>
                  </a:lnTo>
                  <a:lnTo>
                    <a:pt x="2041536" y="1881359"/>
                  </a:lnTo>
                  <a:lnTo>
                    <a:pt x="2095583" y="1884118"/>
                  </a:lnTo>
                  <a:lnTo>
                    <a:pt x="2149221" y="1884054"/>
                  </a:lnTo>
                  <a:lnTo>
                    <a:pt x="2202207" y="1881246"/>
                  </a:lnTo>
                  <a:lnTo>
                    <a:pt x="2254301" y="1875776"/>
                  </a:lnTo>
                  <a:lnTo>
                    <a:pt x="2305259" y="1867723"/>
                  </a:lnTo>
                  <a:lnTo>
                    <a:pt x="2354840" y="1857169"/>
                  </a:lnTo>
                  <a:lnTo>
                    <a:pt x="2402802" y="1844193"/>
                  </a:lnTo>
                  <a:lnTo>
                    <a:pt x="2448903" y="1828876"/>
                  </a:lnTo>
                  <a:lnTo>
                    <a:pt x="2492901" y="1811299"/>
                  </a:lnTo>
                  <a:lnTo>
                    <a:pt x="2534554" y="1791541"/>
                  </a:lnTo>
                  <a:lnTo>
                    <a:pt x="2573620" y="1769684"/>
                  </a:lnTo>
                  <a:lnTo>
                    <a:pt x="2609857" y="1745807"/>
                  </a:lnTo>
                  <a:lnTo>
                    <a:pt x="2643023" y="1719992"/>
                  </a:lnTo>
                  <a:lnTo>
                    <a:pt x="2672876" y="1692318"/>
                  </a:lnTo>
                  <a:lnTo>
                    <a:pt x="2699175" y="1662867"/>
                  </a:lnTo>
                  <a:lnTo>
                    <a:pt x="2721676" y="1631717"/>
                  </a:lnTo>
                  <a:lnTo>
                    <a:pt x="2740139" y="1598951"/>
                  </a:lnTo>
                  <a:lnTo>
                    <a:pt x="2784570" y="1614415"/>
                  </a:lnTo>
                  <a:lnTo>
                    <a:pt x="2830916" y="1627239"/>
                  </a:lnTo>
                  <a:lnTo>
                    <a:pt x="2878871" y="1637369"/>
                  </a:lnTo>
                  <a:lnTo>
                    <a:pt x="2928128" y="1644746"/>
                  </a:lnTo>
                  <a:lnTo>
                    <a:pt x="2978379" y="1649316"/>
                  </a:lnTo>
                  <a:lnTo>
                    <a:pt x="3029318" y="1651021"/>
                  </a:lnTo>
                  <a:lnTo>
                    <a:pt x="3086029" y="1649532"/>
                  </a:lnTo>
                  <a:lnTo>
                    <a:pt x="3141148" y="1644606"/>
                  </a:lnTo>
                  <a:lnTo>
                    <a:pt x="3194395" y="1636415"/>
                  </a:lnTo>
                  <a:lnTo>
                    <a:pt x="3245488" y="1625131"/>
                  </a:lnTo>
                  <a:lnTo>
                    <a:pt x="3294147" y="1610924"/>
                  </a:lnTo>
                  <a:lnTo>
                    <a:pt x="3340089" y="1593967"/>
                  </a:lnTo>
                  <a:lnTo>
                    <a:pt x="3383034" y="1574430"/>
                  </a:lnTo>
                  <a:lnTo>
                    <a:pt x="3422701" y="1552485"/>
                  </a:lnTo>
                  <a:lnTo>
                    <a:pt x="3458807" y="1528303"/>
                  </a:lnTo>
                  <a:lnTo>
                    <a:pt x="3491072" y="1502055"/>
                  </a:lnTo>
                  <a:lnTo>
                    <a:pt x="3519215" y="1473914"/>
                  </a:lnTo>
                  <a:lnTo>
                    <a:pt x="3542954" y="1444049"/>
                  </a:lnTo>
                  <a:lnTo>
                    <a:pt x="3576095" y="1379836"/>
                  </a:lnTo>
                  <a:lnTo>
                    <a:pt x="3588245" y="1310788"/>
                  </a:lnTo>
                  <a:lnTo>
                    <a:pt x="3642956" y="1304451"/>
                  </a:lnTo>
                  <a:lnTo>
                    <a:pt x="3696407" y="1295271"/>
                  </a:lnTo>
                  <a:lnTo>
                    <a:pt x="3748313" y="1283324"/>
                  </a:lnTo>
                  <a:lnTo>
                    <a:pt x="3798388" y="1268690"/>
                  </a:lnTo>
                  <a:lnTo>
                    <a:pt x="3846346" y="1251445"/>
                  </a:lnTo>
                  <a:lnTo>
                    <a:pt x="3891902" y="1231667"/>
                  </a:lnTo>
                  <a:lnTo>
                    <a:pt x="3939677" y="1206621"/>
                  </a:lnTo>
                  <a:lnTo>
                    <a:pt x="3982608" y="1179378"/>
                  </a:lnTo>
                  <a:lnTo>
                    <a:pt x="4020646" y="1150174"/>
                  </a:lnTo>
                  <a:lnTo>
                    <a:pt x="4053740" y="1119247"/>
                  </a:lnTo>
                  <a:lnTo>
                    <a:pt x="4081840" y="1086831"/>
                  </a:lnTo>
                  <a:lnTo>
                    <a:pt x="4104896" y="1053165"/>
                  </a:lnTo>
                  <a:lnTo>
                    <a:pt x="4122858" y="1018484"/>
                  </a:lnTo>
                  <a:lnTo>
                    <a:pt x="4143299" y="947025"/>
                  </a:lnTo>
                  <a:lnTo>
                    <a:pt x="4145678" y="910720"/>
                  </a:lnTo>
                  <a:lnTo>
                    <a:pt x="4142763" y="874346"/>
                  </a:lnTo>
                  <a:lnTo>
                    <a:pt x="4120849" y="802340"/>
                  </a:lnTo>
                  <a:lnTo>
                    <a:pt x="4101749" y="767181"/>
                  </a:lnTo>
                  <a:lnTo>
                    <a:pt x="4077155" y="732899"/>
                  </a:lnTo>
                  <a:lnTo>
                    <a:pt x="4047016" y="699731"/>
                  </a:lnTo>
                  <a:lnTo>
                    <a:pt x="4011282" y="667914"/>
                  </a:lnTo>
                  <a:lnTo>
                    <a:pt x="4018043" y="657673"/>
                  </a:lnTo>
                  <a:lnTo>
                    <a:pt x="4047119" y="590005"/>
                  </a:lnTo>
                  <a:lnTo>
                    <a:pt x="4052539" y="553884"/>
                  </a:lnTo>
                  <a:lnTo>
                    <a:pt x="4051306" y="518186"/>
                  </a:lnTo>
                  <a:lnTo>
                    <a:pt x="4029962" y="449229"/>
                  </a:lnTo>
                  <a:lnTo>
                    <a:pt x="3985247" y="385466"/>
                  </a:lnTo>
                  <a:lnTo>
                    <a:pt x="3954801" y="356261"/>
                  </a:lnTo>
                  <a:lnTo>
                    <a:pt x="3919321" y="329230"/>
                  </a:lnTo>
                  <a:lnTo>
                    <a:pt x="3879078" y="304663"/>
                  </a:lnTo>
                  <a:lnTo>
                    <a:pt x="3834342" y="282853"/>
                  </a:lnTo>
                  <a:lnTo>
                    <a:pt x="3785383" y="264090"/>
                  </a:lnTo>
                  <a:lnTo>
                    <a:pt x="3732471" y="248668"/>
                  </a:lnTo>
                  <a:lnTo>
                    <a:pt x="3675875" y="236876"/>
                  </a:lnTo>
                  <a:lnTo>
                    <a:pt x="3660072" y="198296"/>
                  </a:lnTo>
                  <a:lnTo>
                    <a:pt x="3635985" y="161678"/>
                  </a:lnTo>
                  <a:lnTo>
                    <a:pt x="3604077" y="127523"/>
                  </a:lnTo>
                  <a:lnTo>
                    <a:pt x="3564810" y="96331"/>
                  </a:lnTo>
                  <a:lnTo>
                    <a:pt x="3518649" y="68601"/>
                  </a:lnTo>
                  <a:lnTo>
                    <a:pt x="3475218" y="48383"/>
                  </a:lnTo>
                  <a:lnTo>
                    <a:pt x="3429289" y="31743"/>
                  </a:lnTo>
                  <a:lnTo>
                    <a:pt x="3381355" y="18656"/>
                  </a:lnTo>
                  <a:lnTo>
                    <a:pt x="3331908" y="9098"/>
                  </a:lnTo>
                  <a:lnTo>
                    <a:pt x="3281441" y="3042"/>
                  </a:lnTo>
                  <a:lnTo>
                    <a:pt x="3230447" y="464"/>
                  </a:lnTo>
                  <a:lnTo>
                    <a:pt x="3179416" y="1339"/>
                  </a:lnTo>
                  <a:lnTo>
                    <a:pt x="3128843" y="5640"/>
                  </a:lnTo>
                  <a:lnTo>
                    <a:pt x="3079219" y="13343"/>
                  </a:lnTo>
                  <a:lnTo>
                    <a:pt x="3031036" y="24423"/>
                  </a:lnTo>
                  <a:lnTo>
                    <a:pt x="2984787" y="38854"/>
                  </a:lnTo>
                  <a:lnTo>
                    <a:pt x="2940964" y="56611"/>
                  </a:lnTo>
                  <a:lnTo>
                    <a:pt x="2900060" y="77669"/>
                  </a:lnTo>
                  <a:lnTo>
                    <a:pt x="2862567" y="102002"/>
                  </a:lnTo>
                  <a:lnTo>
                    <a:pt x="2831409" y="79509"/>
                  </a:lnTo>
                  <a:lnTo>
                    <a:pt x="2796464" y="59409"/>
                  </a:lnTo>
                  <a:lnTo>
                    <a:pt x="2758090" y="41905"/>
                  </a:lnTo>
                  <a:lnTo>
                    <a:pt x="2716644" y="27199"/>
                  </a:lnTo>
                  <a:lnTo>
                    <a:pt x="2668203" y="14497"/>
                  </a:lnTo>
                  <a:lnTo>
                    <a:pt x="2618713" y="5803"/>
                  </a:lnTo>
                  <a:lnTo>
                    <a:pt x="2568701" y="1007"/>
                  </a:lnTo>
                  <a:lnTo>
                    <a:pt x="2518692" y="0"/>
                  </a:lnTo>
                  <a:close/>
                </a:path>
              </a:pathLst>
            </a:custGeom>
            <a:solidFill>
              <a:srgbClr val="F57A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7" name="Google Shape;44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85792" y="3725926"/>
              <a:ext cx="104648" cy="104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" name="Google Shape;44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12615" y="3547872"/>
              <a:ext cx="209296" cy="209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3"/>
            <p:cNvSpPr/>
            <p:nvPr/>
          </p:nvSpPr>
          <p:spPr>
            <a:xfrm>
              <a:off x="4048632" y="3318129"/>
              <a:ext cx="314325" cy="314325"/>
            </a:xfrm>
            <a:custGeom>
              <a:rect b="b" l="l" r="r" t="t"/>
              <a:pathLst>
                <a:path extrusionOk="0" h="314325" w="314325">
                  <a:moveTo>
                    <a:pt x="156971" y="0"/>
                  </a:moveTo>
                  <a:lnTo>
                    <a:pt x="107338" y="7997"/>
                  </a:lnTo>
                  <a:lnTo>
                    <a:pt x="64245" y="30272"/>
                  </a:lnTo>
                  <a:lnTo>
                    <a:pt x="30272" y="64245"/>
                  </a:lnTo>
                  <a:lnTo>
                    <a:pt x="7997" y="107338"/>
                  </a:lnTo>
                  <a:lnTo>
                    <a:pt x="0" y="156972"/>
                  </a:lnTo>
                  <a:lnTo>
                    <a:pt x="7997" y="206556"/>
                  </a:lnTo>
                  <a:lnTo>
                    <a:pt x="30272" y="249643"/>
                  </a:lnTo>
                  <a:lnTo>
                    <a:pt x="64245" y="283634"/>
                  </a:lnTo>
                  <a:lnTo>
                    <a:pt x="107338" y="305933"/>
                  </a:lnTo>
                  <a:lnTo>
                    <a:pt x="156971" y="313944"/>
                  </a:lnTo>
                  <a:lnTo>
                    <a:pt x="206556" y="305933"/>
                  </a:lnTo>
                  <a:lnTo>
                    <a:pt x="249643" y="283634"/>
                  </a:lnTo>
                  <a:lnTo>
                    <a:pt x="283634" y="249643"/>
                  </a:lnTo>
                  <a:lnTo>
                    <a:pt x="305933" y="206556"/>
                  </a:lnTo>
                  <a:lnTo>
                    <a:pt x="313943" y="156972"/>
                  </a:lnTo>
                  <a:lnTo>
                    <a:pt x="305933" y="107338"/>
                  </a:lnTo>
                  <a:lnTo>
                    <a:pt x="283634" y="64245"/>
                  </a:lnTo>
                  <a:lnTo>
                    <a:pt x="249643" y="30272"/>
                  </a:lnTo>
                  <a:lnTo>
                    <a:pt x="206556" y="7997"/>
                  </a:lnTo>
                  <a:lnTo>
                    <a:pt x="156971" y="0"/>
                  </a:lnTo>
                  <a:close/>
                </a:path>
              </a:pathLst>
            </a:custGeom>
            <a:solidFill>
              <a:srgbClr val="F57A1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>
              <a:off x="618756" y="1678029"/>
              <a:ext cx="4145915" cy="1884679"/>
            </a:xfrm>
            <a:custGeom>
              <a:rect b="b" l="l" r="r" t="t"/>
              <a:pathLst>
                <a:path extrusionOk="0" h="1884679" w="4145915">
                  <a:moveTo>
                    <a:pt x="376847" y="620416"/>
                  </a:moveTo>
                  <a:lnTo>
                    <a:pt x="371527" y="584049"/>
                  </a:lnTo>
                  <a:lnTo>
                    <a:pt x="371498" y="548163"/>
                  </a:lnTo>
                  <a:lnTo>
                    <a:pt x="376565" y="512918"/>
                  </a:lnTo>
                  <a:lnTo>
                    <a:pt x="401202" y="444985"/>
                  </a:lnTo>
                  <a:lnTo>
                    <a:pt x="443874" y="381524"/>
                  </a:lnTo>
                  <a:lnTo>
                    <a:pt x="471485" y="351868"/>
                  </a:lnTo>
                  <a:lnTo>
                    <a:pt x="503017" y="323808"/>
                  </a:lnTo>
                  <a:lnTo>
                    <a:pt x="538275" y="297502"/>
                  </a:lnTo>
                  <a:lnTo>
                    <a:pt x="577065" y="273109"/>
                  </a:lnTo>
                  <a:lnTo>
                    <a:pt x="619189" y="250790"/>
                  </a:lnTo>
                  <a:lnTo>
                    <a:pt x="664454" y="230702"/>
                  </a:lnTo>
                  <a:lnTo>
                    <a:pt x="712662" y="213005"/>
                  </a:lnTo>
                  <a:lnTo>
                    <a:pt x="763619" y="197859"/>
                  </a:lnTo>
                  <a:lnTo>
                    <a:pt x="817129" y="185422"/>
                  </a:lnTo>
                  <a:lnTo>
                    <a:pt x="872996" y="175853"/>
                  </a:lnTo>
                  <a:lnTo>
                    <a:pt x="931024" y="169312"/>
                  </a:lnTo>
                  <a:lnTo>
                    <a:pt x="984908" y="166193"/>
                  </a:lnTo>
                  <a:lnTo>
                    <a:pt x="1038744" y="165863"/>
                  </a:lnTo>
                  <a:lnTo>
                    <a:pt x="1092259" y="168290"/>
                  </a:lnTo>
                  <a:lnTo>
                    <a:pt x="1145178" y="173440"/>
                  </a:lnTo>
                  <a:lnTo>
                    <a:pt x="1197228" y="181280"/>
                  </a:lnTo>
                  <a:lnTo>
                    <a:pt x="1248135" y="191779"/>
                  </a:lnTo>
                  <a:lnTo>
                    <a:pt x="1297626" y="204903"/>
                  </a:lnTo>
                  <a:lnTo>
                    <a:pt x="1345425" y="220620"/>
                  </a:lnTo>
                  <a:lnTo>
                    <a:pt x="1374208" y="191000"/>
                  </a:lnTo>
                  <a:lnTo>
                    <a:pt x="1407289" y="164017"/>
                  </a:lnTo>
                  <a:lnTo>
                    <a:pt x="1444249" y="139750"/>
                  </a:lnTo>
                  <a:lnTo>
                    <a:pt x="1484664" y="118279"/>
                  </a:lnTo>
                  <a:lnTo>
                    <a:pt x="1528112" y="99683"/>
                  </a:lnTo>
                  <a:lnTo>
                    <a:pt x="1574174" y="84043"/>
                  </a:lnTo>
                  <a:lnTo>
                    <a:pt x="1622425" y="71439"/>
                  </a:lnTo>
                  <a:lnTo>
                    <a:pt x="1672446" y="61949"/>
                  </a:lnTo>
                  <a:lnTo>
                    <a:pt x="1723813" y="55653"/>
                  </a:lnTo>
                  <a:lnTo>
                    <a:pt x="1776106" y="52632"/>
                  </a:lnTo>
                  <a:lnTo>
                    <a:pt x="1828902" y="52965"/>
                  </a:lnTo>
                  <a:lnTo>
                    <a:pt x="1881780" y="56731"/>
                  </a:lnTo>
                  <a:lnTo>
                    <a:pt x="1934318" y="64011"/>
                  </a:lnTo>
                  <a:lnTo>
                    <a:pt x="1986094" y="74884"/>
                  </a:lnTo>
                  <a:lnTo>
                    <a:pt x="2036686" y="89429"/>
                  </a:lnTo>
                  <a:lnTo>
                    <a:pt x="2099202" y="113750"/>
                  </a:lnTo>
                  <a:lnTo>
                    <a:pt x="2155431" y="143404"/>
                  </a:lnTo>
                  <a:lnTo>
                    <a:pt x="2181770" y="115228"/>
                  </a:lnTo>
                  <a:lnTo>
                    <a:pt x="2212841" y="89858"/>
                  </a:lnTo>
                  <a:lnTo>
                    <a:pt x="2248118" y="67403"/>
                  </a:lnTo>
                  <a:lnTo>
                    <a:pt x="2287077" y="47971"/>
                  </a:lnTo>
                  <a:lnTo>
                    <a:pt x="2329190" y="31673"/>
                  </a:lnTo>
                  <a:lnTo>
                    <a:pt x="2373934" y="18618"/>
                  </a:lnTo>
                  <a:lnTo>
                    <a:pt x="2420783" y="8914"/>
                  </a:lnTo>
                  <a:lnTo>
                    <a:pt x="2469210" y="2672"/>
                  </a:lnTo>
                  <a:lnTo>
                    <a:pt x="2518692" y="0"/>
                  </a:lnTo>
                  <a:lnTo>
                    <a:pt x="2568701" y="1007"/>
                  </a:lnTo>
                  <a:lnTo>
                    <a:pt x="2618713" y="5803"/>
                  </a:lnTo>
                  <a:lnTo>
                    <a:pt x="2668203" y="14497"/>
                  </a:lnTo>
                  <a:lnTo>
                    <a:pt x="2716644" y="27199"/>
                  </a:lnTo>
                  <a:lnTo>
                    <a:pt x="2758090" y="41905"/>
                  </a:lnTo>
                  <a:lnTo>
                    <a:pt x="2796464" y="59409"/>
                  </a:lnTo>
                  <a:lnTo>
                    <a:pt x="2831409" y="79509"/>
                  </a:lnTo>
                  <a:lnTo>
                    <a:pt x="2862567" y="102002"/>
                  </a:lnTo>
                  <a:lnTo>
                    <a:pt x="2900060" y="77669"/>
                  </a:lnTo>
                  <a:lnTo>
                    <a:pt x="2940964" y="56611"/>
                  </a:lnTo>
                  <a:lnTo>
                    <a:pt x="2984787" y="38854"/>
                  </a:lnTo>
                  <a:lnTo>
                    <a:pt x="3031036" y="24423"/>
                  </a:lnTo>
                  <a:lnTo>
                    <a:pt x="3079219" y="13343"/>
                  </a:lnTo>
                  <a:lnTo>
                    <a:pt x="3128843" y="5640"/>
                  </a:lnTo>
                  <a:lnTo>
                    <a:pt x="3179416" y="1339"/>
                  </a:lnTo>
                  <a:lnTo>
                    <a:pt x="3230447" y="464"/>
                  </a:lnTo>
                  <a:lnTo>
                    <a:pt x="3281441" y="3042"/>
                  </a:lnTo>
                  <a:lnTo>
                    <a:pt x="3331908" y="9098"/>
                  </a:lnTo>
                  <a:lnTo>
                    <a:pt x="3381355" y="18656"/>
                  </a:lnTo>
                  <a:lnTo>
                    <a:pt x="3429289" y="31743"/>
                  </a:lnTo>
                  <a:lnTo>
                    <a:pt x="3475218" y="48383"/>
                  </a:lnTo>
                  <a:lnTo>
                    <a:pt x="3518649" y="68601"/>
                  </a:lnTo>
                  <a:lnTo>
                    <a:pt x="3564810" y="96331"/>
                  </a:lnTo>
                  <a:lnTo>
                    <a:pt x="3604077" y="127523"/>
                  </a:lnTo>
                  <a:lnTo>
                    <a:pt x="3635985" y="161678"/>
                  </a:lnTo>
                  <a:lnTo>
                    <a:pt x="3660072" y="198296"/>
                  </a:lnTo>
                  <a:lnTo>
                    <a:pt x="3675875" y="236876"/>
                  </a:lnTo>
                  <a:lnTo>
                    <a:pt x="3732471" y="248668"/>
                  </a:lnTo>
                  <a:lnTo>
                    <a:pt x="3785383" y="264090"/>
                  </a:lnTo>
                  <a:lnTo>
                    <a:pt x="3834342" y="282853"/>
                  </a:lnTo>
                  <a:lnTo>
                    <a:pt x="3879078" y="304663"/>
                  </a:lnTo>
                  <a:lnTo>
                    <a:pt x="3919321" y="329230"/>
                  </a:lnTo>
                  <a:lnTo>
                    <a:pt x="3954801" y="356261"/>
                  </a:lnTo>
                  <a:lnTo>
                    <a:pt x="3985247" y="385466"/>
                  </a:lnTo>
                  <a:lnTo>
                    <a:pt x="4010391" y="416553"/>
                  </a:lnTo>
                  <a:lnTo>
                    <a:pt x="4043690" y="483204"/>
                  </a:lnTo>
                  <a:lnTo>
                    <a:pt x="4052539" y="553884"/>
                  </a:lnTo>
                  <a:lnTo>
                    <a:pt x="4047119" y="590005"/>
                  </a:lnTo>
                  <a:lnTo>
                    <a:pt x="4034777" y="626258"/>
                  </a:lnTo>
                  <a:lnTo>
                    <a:pt x="4011282" y="667914"/>
                  </a:lnTo>
                  <a:lnTo>
                    <a:pt x="4047016" y="699731"/>
                  </a:lnTo>
                  <a:lnTo>
                    <a:pt x="4077155" y="732899"/>
                  </a:lnTo>
                  <a:lnTo>
                    <a:pt x="4101749" y="767181"/>
                  </a:lnTo>
                  <a:lnTo>
                    <a:pt x="4120849" y="802340"/>
                  </a:lnTo>
                  <a:lnTo>
                    <a:pt x="4134503" y="838141"/>
                  </a:lnTo>
                  <a:lnTo>
                    <a:pt x="4145678" y="910720"/>
                  </a:lnTo>
                  <a:lnTo>
                    <a:pt x="4143299" y="947025"/>
                  </a:lnTo>
                  <a:lnTo>
                    <a:pt x="4122858" y="1018484"/>
                  </a:lnTo>
                  <a:lnTo>
                    <a:pt x="4104896" y="1053165"/>
                  </a:lnTo>
                  <a:lnTo>
                    <a:pt x="4081840" y="1086831"/>
                  </a:lnTo>
                  <a:lnTo>
                    <a:pt x="4053740" y="1119247"/>
                  </a:lnTo>
                  <a:lnTo>
                    <a:pt x="4020646" y="1150174"/>
                  </a:lnTo>
                  <a:lnTo>
                    <a:pt x="3982608" y="1179378"/>
                  </a:lnTo>
                  <a:lnTo>
                    <a:pt x="3939677" y="1206621"/>
                  </a:lnTo>
                  <a:lnTo>
                    <a:pt x="3891902" y="1231667"/>
                  </a:lnTo>
                  <a:lnTo>
                    <a:pt x="3846346" y="1251445"/>
                  </a:lnTo>
                  <a:lnTo>
                    <a:pt x="3798388" y="1268690"/>
                  </a:lnTo>
                  <a:lnTo>
                    <a:pt x="3748313" y="1283324"/>
                  </a:lnTo>
                  <a:lnTo>
                    <a:pt x="3696407" y="1295271"/>
                  </a:lnTo>
                  <a:lnTo>
                    <a:pt x="3642956" y="1304451"/>
                  </a:lnTo>
                  <a:lnTo>
                    <a:pt x="3588245" y="1310788"/>
                  </a:lnTo>
                  <a:lnTo>
                    <a:pt x="3584935" y="1345831"/>
                  </a:lnTo>
                  <a:lnTo>
                    <a:pt x="3562008" y="1412633"/>
                  </a:lnTo>
                  <a:lnTo>
                    <a:pt x="3519215" y="1473914"/>
                  </a:lnTo>
                  <a:lnTo>
                    <a:pt x="3491072" y="1502055"/>
                  </a:lnTo>
                  <a:lnTo>
                    <a:pt x="3458807" y="1528303"/>
                  </a:lnTo>
                  <a:lnTo>
                    <a:pt x="3422701" y="1552485"/>
                  </a:lnTo>
                  <a:lnTo>
                    <a:pt x="3383034" y="1574430"/>
                  </a:lnTo>
                  <a:lnTo>
                    <a:pt x="3340089" y="1593967"/>
                  </a:lnTo>
                  <a:lnTo>
                    <a:pt x="3294147" y="1610924"/>
                  </a:lnTo>
                  <a:lnTo>
                    <a:pt x="3245488" y="1625131"/>
                  </a:lnTo>
                  <a:lnTo>
                    <a:pt x="3194395" y="1636415"/>
                  </a:lnTo>
                  <a:lnTo>
                    <a:pt x="3141148" y="1644606"/>
                  </a:lnTo>
                  <a:lnTo>
                    <a:pt x="3086029" y="1649532"/>
                  </a:lnTo>
                  <a:lnTo>
                    <a:pt x="3029318" y="1651021"/>
                  </a:lnTo>
                  <a:lnTo>
                    <a:pt x="2978379" y="1649316"/>
                  </a:lnTo>
                  <a:lnTo>
                    <a:pt x="2928128" y="1644746"/>
                  </a:lnTo>
                  <a:lnTo>
                    <a:pt x="2878871" y="1637369"/>
                  </a:lnTo>
                  <a:lnTo>
                    <a:pt x="2830916" y="1627239"/>
                  </a:lnTo>
                  <a:lnTo>
                    <a:pt x="2784570" y="1614415"/>
                  </a:lnTo>
                  <a:lnTo>
                    <a:pt x="2740139" y="1598951"/>
                  </a:lnTo>
                  <a:lnTo>
                    <a:pt x="2721676" y="1631717"/>
                  </a:lnTo>
                  <a:lnTo>
                    <a:pt x="2699175" y="1662867"/>
                  </a:lnTo>
                  <a:lnTo>
                    <a:pt x="2672876" y="1692318"/>
                  </a:lnTo>
                  <a:lnTo>
                    <a:pt x="2643023" y="1719992"/>
                  </a:lnTo>
                  <a:lnTo>
                    <a:pt x="2609857" y="1745807"/>
                  </a:lnTo>
                  <a:lnTo>
                    <a:pt x="2573620" y="1769684"/>
                  </a:lnTo>
                  <a:lnTo>
                    <a:pt x="2534554" y="1791541"/>
                  </a:lnTo>
                  <a:lnTo>
                    <a:pt x="2492901" y="1811299"/>
                  </a:lnTo>
                  <a:lnTo>
                    <a:pt x="2448903" y="1828876"/>
                  </a:lnTo>
                  <a:lnTo>
                    <a:pt x="2402802" y="1844193"/>
                  </a:lnTo>
                  <a:lnTo>
                    <a:pt x="2354840" y="1857169"/>
                  </a:lnTo>
                  <a:lnTo>
                    <a:pt x="2305259" y="1867723"/>
                  </a:lnTo>
                  <a:lnTo>
                    <a:pt x="2254301" y="1875776"/>
                  </a:lnTo>
                  <a:lnTo>
                    <a:pt x="2202207" y="1881246"/>
                  </a:lnTo>
                  <a:lnTo>
                    <a:pt x="2149221" y="1884054"/>
                  </a:lnTo>
                  <a:lnTo>
                    <a:pt x="2095583" y="1884118"/>
                  </a:lnTo>
                  <a:lnTo>
                    <a:pt x="2041536" y="1881359"/>
                  </a:lnTo>
                  <a:lnTo>
                    <a:pt x="1987321" y="1875696"/>
                  </a:lnTo>
                  <a:lnTo>
                    <a:pt x="1933181" y="1867048"/>
                  </a:lnTo>
                  <a:lnTo>
                    <a:pt x="1880370" y="1855560"/>
                  </a:lnTo>
                  <a:lnTo>
                    <a:pt x="1829639" y="1841366"/>
                  </a:lnTo>
                  <a:lnTo>
                    <a:pt x="1781232" y="1824583"/>
                  </a:lnTo>
                  <a:lnTo>
                    <a:pt x="1735395" y="1805326"/>
                  </a:lnTo>
                  <a:lnTo>
                    <a:pt x="1692374" y="1783712"/>
                  </a:lnTo>
                  <a:lnTo>
                    <a:pt x="1652414" y="1759856"/>
                  </a:lnTo>
                  <a:lnTo>
                    <a:pt x="1615761" y="1733875"/>
                  </a:lnTo>
                  <a:lnTo>
                    <a:pt x="1582661" y="1705885"/>
                  </a:lnTo>
                  <a:lnTo>
                    <a:pt x="1534284" y="1722481"/>
                  </a:lnTo>
                  <a:lnTo>
                    <a:pt x="1484811" y="1736613"/>
                  </a:lnTo>
                  <a:lnTo>
                    <a:pt x="1434437" y="1748313"/>
                  </a:lnTo>
                  <a:lnTo>
                    <a:pt x="1383359" y="1757609"/>
                  </a:lnTo>
                  <a:lnTo>
                    <a:pt x="1331774" y="1764533"/>
                  </a:lnTo>
                  <a:lnTo>
                    <a:pt x="1279877" y="1769115"/>
                  </a:lnTo>
                  <a:lnTo>
                    <a:pt x="1227865" y="1771385"/>
                  </a:lnTo>
                  <a:lnTo>
                    <a:pt x="1175934" y="1771374"/>
                  </a:lnTo>
                  <a:lnTo>
                    <a:pt x="1124279" y="1769112"/>
                  </a:lnTo>
                  <a:lnTo>
                    <a:pt x="1073098" y="1764629"/>
                  </a:lnTo>
                  <a:lnTo>
                    <a:pt x="1022587" y="1757955"/>
                  </a:lnTo>
                  <a:lnTo>
                    <a:pt x="972941" y="1749122"/>
                  </a:lnTo>
                  <a:lnTo>
                    <a:pt x="924357" y="1738158"/>
                  </a:lnTo>
                  <a:lnTo>
                    <a:pt x="877031" y="1725096"/>
                  </a:lnTo>
                  <a:lnTo>
                    <a:pt x="831159" y="1709964"/>
                  </a:lnTo>
                  <a:lnTo>
                    <a:pt x="786938" y="1692794"/>
                  </a:lnTo>
                  <a:lnTo>
                    <a:pt x="744563" y="1673615"/>
                  </a:lnTo>
                  <a:lnTo>
                    <a:pt x="704232" y="1652459"/>
                  </a:lnTo>
                  <a:lnTo>
                    <a:pt x="666139" y="1629354"/>
                  </a:lnTo>
                  <a:lnTo>
                    <a:pt x="630482" y="1604333"/>
                  </a:lnTo>
                  <a:lnTo>
                    <a:pt x="597456" y="1577424"/>
                  </a:lnTo>
                  <a:lnTo>
                    <a:pt x="567258" y="1548659"/>
                  </a:lnTo>
                  <a:lnTo>
                    <a:pt x="559435" y="1540404"/>
                  </a:lnTo>
                  <a:lnTo>
                    <a:pt x="502671" y="1542150"/>
                  </a:lnTo>
                  <a:lnTo>
                    <a:pt x="447359" y="1539251"/>
                  </a:lnTo>
                  <a:lnTo>
                    <a:pt x="394051" y="1531976"/>
                  </a:lnTo>
                  <a:lnTo>
                    <a:pt x="343300" y="1520597"/>
                  </a:lnTo>
                  <a:lnTo>
                    <a:pt x="295659" y="1505382"/>
                  </a:lnTo>
                  <a:lnTo>
                    <a:pt x="251681" y="1486604"/>
                  </a:lnTo>
                  <a:lnTo>
                    <a:pt x="211917" y="1464531"/>
                  </a:lnTo>
                  <a:lnTo>
                    <a:pt x="176921" y="1439434"/>
                  </a:lnTo>
                  <a:lnTo>
                    <a:pt x="147246" y="1411584"/>
                  </a:lnTo>
                  <a:lnTo>
                    <a:pt x="123444" y="1381251"/>
                  </a:lnTo>
                  <a:lnTo>
                    <a:pt x="95669" y="1314217"/>
                  </a:lnTo>
                  <a:lnTo>
                    <a:pt x="93528" y="1269102"/>
                  </a:lnTo>
                  <a:lnTo>
                    <a:pt x="103966" y="1224931"/>
                  </a:lnTo>
                  <a:lnTo>
                    <a:pt x="126469" y="1182681"/>
                  </a:lnTo>
                  <a:lnTo>
                    <a:pt x="160523" y="1143326"/>
                  </a:lnTo>
                  <a:lnTo>
                    <a:pt x="205613" y="1107842"/>
                  </a:lnTo>
                  <a:lnTo>
                    <a:pt x="154790" y="1086050"/>
                  </a:lnTo>
                  <a:lnTo>
                    <a:pt x="110732" y="1060523"/>
                  </a:lnTo>
                  <a:lnTo>
                    <a:pt x="73671" y="1031809"/>
                  </a:lnTo>
                  <a:lnTo>
                    <a:pt x="43837" y="1000457"/>
                  </a:lnTo>
                  <a:lnTo>
                    <a:pt x="21460" y="967014"/>
                  </a:lnTo>
                  <a:lnTo>
                    <a:pt x="0" y="896047"/>
                  </a:lnTo>
                  <a:lnTo>
                    <a:pt x="1377" y="859619"/>
                  </a:lnTo>
                  <a:lnTo>
                    <a:pt x="29500" y="787613"/>
                  </a:lnTo>
                  <a:lnTo>
                    <a:pt x="56706" y="753131"/>
                  </a:lnTo>
                  <a:lnTo>
                    <a:pt x="88433" y="724116"/>
                  </a:lnTo>
                  <a:lnTo>
                    <a:pt x="125718" y="698309"/>
                  </a:lnTo>
                  <a:lnTo>
                    <a:pt x="167927" y="675964"/>
                  </a:lnTo>
                  <a:lnTo>
                    <a:pt x="214429" y="657332"/>
                  </a:lnTo>
                  <a:lnTo>
                    <a:pt x="264591" y="642669"/>
                  </a:lnTo>
                  <a:lnTo>
                    <a:pt x="317781" y="632226"/>
                  </a:lnTo>
                  <a:lnTo>
                    <a:pt x="373367" y="626258"/>
                  </a:lnTo>
                  <a:lnTo>
                    <a:pt x="376847" y="620416"/>
                  </a:lnTo>
                  <a:close/>
                </a:path>
              </a:pathLst>
            </a:custGeom>
            <a:noFill/>
            <a:ln cap="flat" cmpd="sng" w="12175">
              <a:solidFill>
                <a:srgbClr val="7E5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1" name="Google Shape;451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79695" y="3719830"/>
              <a:ext cx="116840" cy="11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06518" y="3541776"/>
              <a:ext cx="221488" cy="2214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33"/>
            <p:cNvSpPr/>
            <p:nvPr/>
          </p:nvSpPr>
          <p:spPr>
            <a:xfrm>
              <a:off x="828814" y="1773936"/>
              <a:ext cx="3799840" cy="1858645"/>
            </a:xfrm>
            <a:custGeom>
              <a:rect b="b" l="l" r="r" t="t"/>
              <a:pathLst>
                <a:path extrusionOk="0" h="1858645" w="3799840">
                  <a:moveTo>
                    <a:pt x="3533762" y="1701164"/>
                  </a:moveTo>
                  <a:lnTo>
                    <a:pt x="3525752" y="1750749"/>
                  </a:lnTo>
                  <a:lnTo>
                    <a:pt x="3503452" y="1793836"/>
                  </a:lnTo>
                  <a:lnTo>
                    <a:pt x="3469461" y="1827827"/>
                  </a:lnTo>
                  <a:lnTo>
                    <a:pt x="3426375" y="1850126"/>
                  </a:lnTo>
                  <a:lnTo>
                    <a:pt x="3376790" y="1858137"/>
                  </a:lnTo>
                  <a:lnTo>
                    <a:pt x="3327156" y="1850126"/>
                  </a:lnTo>
                  <a:lnTo>
                    <a:pt x="3284064" y="1827827"/>
                  </a:lnTo>
                  <a:lnTo>
                    <a:pt x="3250091" y="1793836"/>
                  </a:lnTo>
                  <a:lnTo>
                    <a:pt x="3227816" y="1750749"/>
                  </a:lnTo>
                  <a:lnTo>
                    <a:pt x="3219818" y="1701164"/>
                  </a:lnTo>
                  <a:lnTo>
                    <a:pt x="3227816" y="1651531"/>
                  </a:lnTo>
                  <a:lnTo>
                    <a:pt x="3250091" y="1608438"/>
                  </a:lnTo>
                  <a:lnTo>
                    <a:pt x="3284064" y="1574465"/>
                  </a:lnTo>
                  <a:lnTo>
                    <a:pt x="3327156" y="1552190"/>
                  </a:lnTo>
                  <a:lnTo>
                    <a:pt x="3376790" y="1544192"/>
                  </a:lnTo>
                  <a:lnTo>
                    <a:pt x="3426375" y="1552190"/>
                  </a:lnTo>
                  <a:lnTo>
                    <a:pt x="3469461" y="1574465"/>
                  </a:lnTo>
                  <a:lnTo>
                    <a:pt x="3503452" y="1608438"/>
                  </a:lnTo>
                  <a:lnTo>
                    <a:pt x="3525752" y="1651531"/>
                  </a:lnTo>
                  <a:lnTo>
                    <a:pt x="3533762" y="1701164"/>
                  </a:lnTo>
                  <a:close/>
                </a:path>
                <a:path extrusionOk="0" h="1858645" w="3799840">
                  <a:moveTo>
                    <a:pt x="242798" y="1039240"/>
                  </a:moveTo>
                  <a:lnTo>
                    <a:pt x="192050" y="1039804"/>
                  </a:lnTo>
                  <a:lnTo>
                    <a:pt x="141850" y="1036528"/>
                  </a:lnTo>
                  <a:lnTo>
                    <a:pt x="92745" y="1029502"/>
                  </a:lnTo>
                  <a:lnTo>
                    <a:pt x="45280" y="1018819"/>
                  </a:lnTo>
                  <a:lnTo>
                    <a:pt x="0" y="1004569"/>
                  </a:lnTo>
                </a:path>
                <a:path extrusionOk="0" h="1858645" w="3799840">
                  <a:moveTo>
                    <a:pt x="457060" y="1419605"/>
                  </a:moveTo>
                  <a:lnTo>
                    <a:pt x="431189" y="1425366"/>
                  </a:lnTo>
                  <a:lnTo>
                    <a:pt x="404801" y="1430067"/>
                  </a:lnTo>
                  <a:lnTo>
                    <a:pt x="377977" y="1433697"/>
                  </a:lnTo>
                  <a:lnTo>
                    <a:pt x="350799" y="1436242"/>
                  </a:lnTo>
                </a:path>
                <a:path extrusionOk="0" h="1858645" w="3799840">
                  <a:moveTo>
                    <a:pt x="1372349" y="1602359"/>
                  </a:moveTo>
                  <a:lnTo>
                    <a:pt x="1353972" y="1584170"/>
                  </a:lnTo>
                  <a:lnTo>
                    <a:pt x="1337154" y="1565433"/>
                  </a:lnTo>
                  <a:lnTo>
                    <a:pt x="1321932" y="1546173"/>
                  </a:lnTo>
                  <a:lnTo>
                    <a:pt x="1308341" y="1526413"/>
                  </a:lnTo>
                </a:path>
                <a:path extrusionOk="0" h="1858645" w="3799840">
                  <a:moveTo>
                    <a:pt x="2555989" y="1413128"/>
                  </a:moveTo>
                  <a:lnTo>
                    <a:pt x="2552304" y="1434218"/>
                  </a:lnTo>
                  <a:lnTo>
                    <a:pt x="2546797" y="1455166"/>
                  </a:lnTo>
                  <a:lnTo>
                    <a:pt x="2539505" y="1475922"/>
                  </a:lnTo>
                  <a:lnTo>
                    <a:pt x="2530462" y="1496440"/>
                  </a:lnTo>
                </a:path>
                <a:path extrusionOk="0" h="1858645" w="3799840">
                  <a:moveTo>
                    <a:pt x="3064243" y="898778"/>
                  </a:moveTo>
                  <a:lnTo>
                    <a:pt x="3119706" y="917994"/>
                  </a:lnTo>
                  <a:lnTo>
                    <a:pt x="3170600" y="940684"/>
                  </a:lnTo>
                  <a:lnTo>
                    <a:pt x="3216612" y="966539"/>
                  </a:lnTo>
                  <a:lnTo>
                    <a:pt x="3257431" y="995246"/>
                  </a:lnTo>
                  <a:lnTo>
                    <a:pt x="3292748" y="1026493"/>
                  </a:lnTo>
                  <a:lnTo>
                    <a:pt x="3322250" y="1059969"/>
                  </a:lnTo>
                  <a:lnTo>
                    <a:pt x="3345627" y="1095362"/>
                  </a:lnTo>
                  <a:lnTo>
                    <a:pt x="3362569" y="1132361"/>
                  </a:lnTo>
                  <a:lnTo>
                    <a:pt x="3372764" y="1170654"/>
                  </a:lnTo>
                  <a:lnTo>
                    <a:pt x="3375901" y="1209928"/>
                  </a:lnTo>
                </a:path>
                <a:path extrusionOk="0" h="1858645" w="3799840">
                  <a:moveTo>
                    <a:pt x="3799319" y="567436"/>
                  </a:moveTo>
                  <a:lnTo>
                    <a:pt x="3772968" y="600154"/>
                  </a:lnTo>
                  <a:lnTo>
                    <a:pt x="3740819" y="630681"/>
                  </a:lnTo>
                  <a:lnTo>
                    <a:pt x="3703218" y="658733"/>
                  </a:lnTo>
                  <a:lnTo>
                    <a:pt x="3660508" y="684022"/>
                  </a:lnTo>
                </a:path>
                <a:path extrusionOk="0" h="1858645" w="3799840">
                  <a:moveTo>
                    <a:pt x="3466325" y="134492"/>
                  </a:moveTo>
                  <a:lnTo>
                    <a:pt x="3469780" y="148159"/>
                  </a:lnTo>
                  <a:lnTo>
                    <a:pt x="3472151" y="161909"/>
                  </a:lnTo>
                  <a:lnTo>
                    <a:pt x="3473451" y="175730"/>
                  </a:lnTo>
                  <a:lnTo>
                    <a:pt x="3473691" y="189611"/>
                  </a:lnTo>
                </a:path>
                <a:path extrusionOk="0" h="1858645" w="3799840">
                  <a:moveTo>
                    <a:pt x="2580119" y="70230"/>
                  </a:moveTo>
                  <a:lnTo>
                    <a:pt x="2594750" y="51506"/>
                  </a:lnTo>
                  <a:lnTo>
                    <a:pt x="2611535" y="33496"/>
                  </a:lnTo>
                  <a:lnTo>
                    <a:pt x="2630393" y="16295"/>
                  </a:lnTo>
                  <a:lnTo>
                    <a:pt x="2651239" y="0"/>
                  </a:lnTo>
                </a:path>
                <a:path extrusionOk="0" h="1858645" w="3799840">
                  <a:moveTo>
                    <a:pt x="1915147" y="103759"/>
                  </a:moveTo>
                  <a:lnTo>
                    <a:pt x="1921453" y="88094"/>
                  </a:lnTo>
                  <a:lnTo>
                    <a:pt x="1929307" y="72739"/>
                  </a:lnTo>
                  <a:lnTo>
                    <a:pt x="1938685" y="57717"/>
                  </a:lnTo>
                  <a:lnTo>
                    <a:pt x="1949564" y="43052"/>
                  </a:lnTo>
                </a:path>
                <a:path extrusionOk="0" h="1858645" w="3799840">
                  <a:moveTo>
                    <a:pt x="1134859" y="124333"/>
                  </a:moveTo>
                  <a:lnTo>
                    <a:pt x="1168131" y="137235"/>
                  </a:lnTo>
                  <a:lnTo>
                    <a:pt x="1200057" y="151352"/>
                  </a:lnTo>
                  <a:lnTo>
                    <a:pt x="1230531" y="166659"/>
                  </a:lnTo>
                  <a:lnTo>
                    <a:pt x="1259446" y="183134"/>
                  </a:lnTo>
                </a:path>
                <a:path extrusionOk="0" h="1858645" w="3799840">
                  <a:moveTo>
                    <a:pt x="188544" y="586359"/>
                  </a:moveTo>
                  <a:lnTo>
                    <a:pt x="181632" y="571122"/>
                  </a:lnTo>
                  <a:lnTo>
                    <a:pt x="175701" y="555720"/>
                  </a:lnTo>
                  <a:lnTo>
                    <a:pt x="170756" y="540174"/>
                  </a:lnTo>
                  <a:lnTo>
                    <a:pt x="166801" y="524510"/>
                  </a:lnTo>
                </a:path>
              </a:pathLst>
            </a:custGeom>
            <a:noFill/>
            <a:ln cap="flat" cmpd="sng" w="12175">
              <a:solidFill>
                <a:srgbClr val="7E5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33"/>
          <p:cNvSpPr txBox="1"/>
          <p:nvPr/>
        </p:nvSpPr>
        <p:spPr>
          <a:xfrm>
            <a:off x="876300" y="1895475"/>
            <a:ext cx="26574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Some professionals believe that Jeff Sutherland, John Scumniotales and Jeff McKenna invented Scrum in 1993.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55" name="Google Shape;455;p33"/>
          <p:cNvGrpSpPr/>
          <p:nvPr/>
        </p:nvGrpSpPr>
        <p:grpSpPr>
          <a:xfrm>
            <a:off x="5547272" y="1736531"/>
            <a:ext cx="3476764" cy="1871799"/>
            <a:chOff x="7158226" y="1481404"/>
            <a:chExt cx="4145915" cy="2193086"/>
          </a:xfrm>
        </p:grpSpPr>
        <p:sp>
          <p:nvSpPr>
            <p:cNvPr id="456" name="Google Shape;456;p33"/>
            <p:cNvSpPr/>
            <p:nvPr/>
          </p:nvSpPr>
          <p:spPr>
            <a:xfrm>
              <a:off x="7158226" y="1481404"/>
              <a:ext cx="4145915" cy="1882775"/>
            </a:xfrm>
            <a:custGeom>
              <a:rect b="b" l="l" r="r" t="t"/>
              <a:pathLst>
                <a:path extrusionOk="0" h="1882775" w="4145915">
                  <a:moveTo>
                    <a:pt x="2518705" y="0"/>
                  </a:moveTo>
                  <a:lnTo>
                    <a:pt x="2469224" y="2658"/>
                  </a:lnTo>
                  <a:lnTo>
                    <a:pt x="2420797" y="8887"/>
                  </a:lnTo>
                  <a:lnTo>
                    <a:pt x="2373948" y="18576"/>
                  </a:lnTo>
                  <a:lnTo>
                    <a:pt x="2329204" y="31617"/>
                  </a:lnTo>
                  <a:lnTo>
                    <a:pt x="2287091" y="47902"/>
                  </a:lnTo>
                  <a:lnTo>
                    <a:pt x="2248132" y="67322"/>
                  </a:lnTo>
                  <a:lnTo>
                    <a:pt x="2212855" y="89768"/>
                  </a:lnTo>
                  <a:lnTo>
                    <a:pt x="2181784" y="115132"/>
                  </a:lnTo>
                  <a:lnTo>
                    <a:pt x="2155445" y="143306"/>
                  </a:lnTo>
                  <a:lnTo>
                    <a:pt x="2128176" y="127889"/>
                  </a:lnTo>
                  <a:lnTo>
                    <a:pt x="2068684" y="100818"/>
                  </a:lnTo>
                  <a:lnTo>
                    <a:pt x="1986108" y="74809"/>
                  </a:lnTo>
                  <a:lnTo>
                    <a:pt x="1934332" y="63957"/>
                  </a:lnTo>
                  <a:lnTo>
                    <a:pt x="1881794" y="56694"/>
                  </a:lnTo>
                  <a:lnTo>
                    <a:pt x="1828916" y="52941"/>
                  </a:lnTo>
                  <a:lnTo>
                    <a:pt x="1776120" y="52618"/>
                  </a:lnTo>
                  <a:lnTo>
                    <a:pt x="1723827" y="55646"/>
                  </a:lnTo>
                  <a:lnTo>
                    <a:pt x="1672460" y="61945"/>
                  </a:lnTo>
                  <a:lnTo>
                    <a:pt x="1622439" y="71435"/>
                  </a:lnTo>
                  <a:lnTo>
                    <a:pt x="1574188" y="84036"/>
                  </a:lnTo>
                  <a:lnTo>
                    <a:pt x="1528126" y="99670"/>
                  </a:lnTo>
                  <a:lnTo>
                    <a:pt x="1484678" y="118255"/>
                  </a:lnTo>
                  <a:lnTo>
                    <a:pt x="1444263" y="139712"/>
                  </a:lnTo>
                  <a:lnTo>
                    <a:pt x="1407303" y="163962"/>
                  </a:lnTo>
                  <a:lnTo>
                    <a:pt x="1374222" y="190925"/>
                  </a:lnTo>
                  <a:lnTo>
                    <a:pt x="1345439" y="220522"/>
                  </a:lnTo>
                  <a:lnTo>
                    <a:pt x="1297640" y="204805"/>
                  </a:lnTo>
                  <a:lnTo>
                    <a:pt x="1248149" y="191681"/>
                  </a:lnTo>
                  <a:lnTo>
                    <a:pt x="1197242" y="181182"/>
                  </a:lnTo>
                  <a:lnTo>
                    <a:pt x="1145192" y="173341"/>
                  </a:lnTo>
                  <a:lnTo>
                    <a:pt x="1092273" y="168191"/>
                  </a:lnTo>
                  <a:lnTo>
                    <a:pt x="1038758" y="165765"/>
                  </a:lnTo>
                  <a:lnTo>
                    <a:pt x="984922" y="166095"/>
                  </a:lnTo>
                  <a:lnTo>
                    <a:pt x="931038" y="169214"/>
                  </a:lnTo>
                  <a:lnTo>
                    <a:pt x="873000" y="175753"/>
                  </a:lnTo>
                  <a:lnTo>
                    <a:pt x="817126" y="185315"/>
                  </a:lnTo>
                  <a:lnTo>
                    <a:pt x="763611" y="197741"/>
                  </a:lnTo>
                  <a:lnTo>
                    <a:pt x="712650" y="212874"/>
                  </a:lnTo>
                  <a:lnTo>
                    <a:pt x="664439" y="230553"/>
                  </a:lnTo>
                  <a:lnTo>
                    <a:pt x="619173" y="250621"/>
                  </a:lnTo>
                  <a:lnTo>
                    <a:pt x="577048" y="272918"/>
                  </a:lnTo>
                  <a:lnTo>
                    <a:pt x="538259" y="297286"/>
                  </a:lnTo>
                  <a:lnTo>
                    <a:pt x="503001" y="323566"/>
                  </a:lnTo>
                  <a:lnTo>
                    <a:pt x="471469" y="351600"/>
                  </a:lnTo>
                  <a:lnTo>
                    <a:pt x="443859" y="381228"/>
                  </a:lnTo>
                  <a:lnTo>
                    <a:pt x="420367" y="412292"/>
                  </a:lnTo>
                  <a:lnTo>
                    <a:pt x="386514" y="478092"/>
                  </a:lnTo>
                  <a:lnTo>
                    <a:pt x="371475" y="547730"/>
                  </a:lnTo>
                  <a:lnTo>
                    <a:pt x="371498" y="583592"/>
                  </a:lnTo>
                  <a:lnTo>
                    <a:pt x="376810" y="619937"/>
                  </a:lnTo>
                  <a:lnTo>
                    <a:pt x="373381" y="625779"/>
                  </a:lnTo>
                  <a:lnTo>
                    <a:pt x="317814" y="631740"/>
                  </a:lnTo>
                  <a:lnTo>
                    <a:pt x="264637" y="642164"/>
                  </a:lnTo>
                  <a:lnTo>
                    <a:pt x="214484" y="656803"/>
                  </a:lnTo>
                  <a:lnTo>
                    <a:pt x="167988" y="675407"/>
                  </a:lnTo>
                  <a:lnTo>
                    <a:pt x="125781" y="697728"/>
                  </a:lnTo>
                  <a:lnTo>
                    <a:pt x="88498" y="723517"/>
                  </a:lnTo>
                  <a:lnTo>
                    <a:pt x="56770" y="752525"/>
                  </a:lnTo>
                  <a:lnTo>
                    <a:pt x="29542" y="786972"/>
                  </a:lnTo>
                  <a:lnTo>
                    <a:pt x="11158" y="822616"/>
                  </a:lnTo>
                  <a:lnTo>
                    <a:pt x="0" y="895302"/>
                  </a:lnTo>
                  <a:lnTo>
                    <a:pt x="6763" y="931248"/>
                  </a:lnTo>
                  <a:lnTo>
                    <a:pt x="43823" y="999608"/>
                  </a:lnTo>
                  <a:lnTo>
                    <a:pt x="73658" y="1030926"/>
                  </a:lnTo>
                  <a:lnTo>
                    <a:pt x="110722" y="1059604"/>
                  </a:lnTo>
                  <a:lnTo>
                    <a:pt x="154785" y="1085097"/>
                  </a:lnTo>
                  <a:lnTo>
                    <a:pt x="205614" y="1106855"/>
                  </a:lnTo>
                  <a:lnTo>
                    <a:pt x="160514" y="1142386"/>
                  </a:lnTo>
                  <a:lnTo>
                    <a:pt x="126448" y="1181740"/>
                  </a:lnTo>
                  <a:lnTo>
                    <a:pt x="103933" y="1223953"/>
                  </a:lnTo>
                  <a:lnTo>
                    <a:pt x="93489" y="1268061"/>
                  </a:lnTo>
                  <a:lnTo>
                    <a:pt x="95632" y="1313103"/>
                  </a:lnTo>
                  <a:lnTo>
                    <a:pt x="123418" y="1380128"/>
                  </a:lnTo>
                  <a:lnTo>
                    <a:pt x="147224" y="1410450"/>
                  </a:lnTo>
                  <a:lnTo>
                    <a:pt x="176903" y="1438287"/>
                  </a:lnTo>
                  <a:lnTo>
                    <a:pt x="211902" y="1463369"/>
                  </a:lnTo>
                  <a:lnTo>
                    <a:pt x="251668" y="1485426"/>
                  </a:lnTo>
                  <a:lnTo>
                    <a:pt x="295649" y="1504189"/>
                  </a:lnTo>
                  <a:lnTo>
                    <a:pt x="343292" y="1519388"/>
                  </a:lnTo>
                  <a:lnTo>
                    <a:pt x="394045" y="1530755"/>
                  </a:lnTo>
                  <a:lnTo>
                    <a:pt x="447355" y="1538019"/>
                  </a:lnTo>
                  <a:lnTo>
                    <a:pt x="502669" y="1540912"/>
                  </a:lnTo>
                  <a:lnTo>
                    <a:pt x="559436" y="1539163"/>
                  </a:lnTo>
                  <a:lnTo>
                    <a:pt x="564643" y="1544751"/>
                  </a:lnTo>
                  <a:lnTo>
                    <a:pt x="597503" y="1576150"/>
                  </a:lnTo>
                  <a:lnTo>
                    <a:pt x="630525" y="1603028"/>
                  </a:lnTo>
                  <a:lnTo>
                    <a:pt x="666178" y="1628023"/>
                  </a:lnTo>
                  <a:lnTo>
                    <a:pt x="704267" y="1651103"/>
                  </a:lnTo>
                  <a:lnTo>
                    <a:pt x="744595" y="1672239"/>
                  </a:lnTo>
                  <a:lnTo>
                    <a:pt x="786966" y="1691399"/>
                  </a:lnTo>
                  <a:lnTo>
                    <a:pt x="831185" y="1708553"/>
                  </a:lnTo>
                  <a:lnTo>
                    <a:pt x="877054" y="1723672"/>
                  </a:lnTo>
                  <a:lnTo>
                    <a:pt x="924378" y="1736724"/>
                  </a:lnTo>
                  <a:lnTo>
                    <a:pt x="972961" y="1747679"/>
                  </a:lnTo>
                  <a:lnTo>
                    <a:pt x="1022605" y="1756507"/>
                  </a:lnTo>
                  <a:lnTo>
                    <a:pt x="1073116" y="1763178"/>
                  </a:lnTo>
                  <a:lnTo>
                    <a:pt x="1124296" y="1767660"/>
                  </a:lnTo>
                  <a:lnTo>
                    <a:pt x="1175949" y="1769924"/>
                  </a:lnTo>
                  <a:lnTo>
                    <a:pt x="1227880" y="1769938"/>
                  </a:lnTo>
                  <a:lnTo>
                    <a:pt x="1279892" y="1767674"/>
                  </a:lnTo>
                  <a:lnTo>
                    <a:pt x="1331789" y="1763099"/>
                  </a:lnTo>
                  <a:lnTo>
                    <a:pt x="1383374" y="1756185"/>
                  </a:lnTo>
                  <a:lnTo>
                    <a:pt x="1434451" y="1746900"/>
                  </a:lnTo>
                  <a:lnTo>
                    <a:pt x="1484825" y="1735214"/>
                  </a:lnTo>
                  <a:lnTo>
                    <a:pt x="1534298" y="1721096"/>
                  </a:lnTo>
                  <a:lnTo>
                    <a:pt x="1582675" y="1704517"/>
                  </a:lnTo>
                  <a:lnTo>
                    <a:pt x="1615775" y="1732502"/>
                  </a:lnTo>
                  <a:lnTo>
                    <a:pt x="1652428" y="1758470"/>
                  </a:lnTo>
                  <a:lnTo>
                    <a:pt x="1692388" y="1782310"/>
                  </a:lnTo>
                  <a:lnTo>
                    <a:pt x="1735409" y="1803910"/>
                  </a:lnTo>
                  <a:lnTo>
                    <a:pt x="1781246" y="1823159"/>
                  </a:lnTo>
                  <a:lnTo>
                    <a:pt x="1829653" y="1839944"/>
                  </a:lnTo>
                  <a:lnTo>
                    <a:pt x="1880384" y="1854155"/>
                  </a:lnTo>
                  <a:lnTo>
                    <a:pt x="1933195" y="1865680"/>
                  </a:lnTo>
                  <a:lnTo>
                    <a:pt x="1987335" y="1874290"/>
                  </a:lnTo>
                  <a:lnTo>
                    <a:pt x="2041550" y="1879923"/>
                  </a:lnTo>
                  <a:lnTo>
                    <a:pt x="2095597" y="1882657"/>
                  </a:lnTo>
                  <a:lnTo>
                    <a:pt x="2149234" y="1882573"/>
                  </a:lnTo>
                  <a:lnTo>
                    <a:pt x="2202221" y="1879752"/>
                  </a:lnTo>
                  <a:lnTo>
                    <a:pt x="2254314" y="1874273"/>
                  </a:lnTo>
                  <a:lnTo>
                    <a:pt x="2305273" y="1866217"/>
                  </a:lnTo>
                  <a:lnTo>
                    <a:pt x="2354854" y="1855663"/>
                  </a:lnTo>
                  <a:lnTo>
                    <a:pt x="2402816" y="1842693"/>
                  </a:lnTo>
                  <a:lnTo>
                    <a:pt x="2448917" y="1827386"/>
                  </a:lnTo>
                  <a:lnTo>
                    <a:pt x="2492915" y="1809823"/>
                  </a:lnTo>
                  <a:lnTo>
                    <a:pt x="2534568" y="1790083"/>
                  </a:lnTo>
                  <a:lnTo>
                    <a:pt x="2573634" y="1768248"/>
                  </a:lnTo>
                  <a:lnTo>
                    <a:pt x="2609871" y="1744397"/>
                  </a:lnTo>
                  <a:lnTo>
                    <a:pt x="2643037" y="1718610"/>
                  </a:lnTo>
                  <a:lnTo>
                    <a:pt x="2672890" y="1690967"/>
                  </a:lnTo>
                  <a:lnTo>
                    <a:pt x="2699189" y="1661550"/>
                  </a:lnTo>
                  <a:lnTo>
                    <a:pt x="2721690" y="1630437"/>
                  </a:lnTo>
                  <a:lnTo>
                    <a:pt x="2740153" y="1597710"/>
                  </a:lnTo>
                  <a:lnTo>
                    <a:pt x="2784584" y="1613164"/>
                  </a:lnTo>
                  <a:lnTo>
                    <a:pt x="2830930" y="1625965"/>
                  </a:lnTo>
                  <a:lnTo>
                    <a:pt x="2878885" y="1636064"/>
                  </a:lnTo>
                  <a:lnTo>
                    <a:pt x="2928142" y="1643411"/>
                  </a:lnTo>
                  <a:lnTo>
                    <a:pt x="2978393" y="1647957"/>
                  </a:lnTo>
                  <a:lnTo>
                    <a:pt x="3029332" y="1649653"/>
                  </a:lnTo>
                  <a:lnTo>
                    <a:pt x="3086043" y="1648166"/>
                  </a:lnTo>
                  <a:lnTo>
                    <a:pt x="3141162" y="1643248"/>
                  </a:lnTo>
                  <a:lnTo>
                    <a:pt x="3194409" y="1635070"/>
                  </a:lnTo>
                  <a:lnTo>
                    <a:pt x="3245502" y="1623802"/>
                  </a:lnTo>
                  <a:lnTo>
                    <a:pt x="3294161" y="1609615"/>
                  </a:lnTo>
                  <a:lnTo>
                    <a:pt x="3340103" y="1592679"/>
                  </a:lnTo>
                  <a:lnTo>
                    <a:pt x="3383048" y="1573165"/>
                  </a:lnTo>
                  <a:lnTo>
                    <a:pt x="3422715" y="1551244"/>
                  </a:lnTo>
                  <a:lnTo>
                    <a:pt x="3458821" y="1527085"/>
                  </a:lnTo>
                  <a:lnTo>
                    <a:pt x="3491086" y="1500861"/>
                  </a:lnTo>
                  <a:lnTo>
                    <a:pt x="3519229" y="1472740"/>
                  </a:lnTo>
                  <a:lnTo>
                    <a:pt x="3542968" y="1442895"/>
                  </a:lnTo>
                  <a:lnTo>
                    <a:pt x="3576109" y="1378711"/>
                  </a:lnTo>
                  <a:lnTo>
                    <a:pt x="3588259" y="1309674"/>
                  </a:lnTo>
                  <a:lnTo>
                    <a:pt x="3642970" y="1303346"/>
                  </a:lnTo>
                  <a:lnTo>
                    <a:pt x="3696421" y="1294189"/>
                  </a:lnTo>
                  <a:lnTo>
                    <a:pt x="3748327" y="1282274"/>
                  </a:lnTo>
                  <a:lnTo>
                    <a:pt x="3798402" y="1267670"/>
                  </a:lnTo>
                  <a:lnTo>
                    <a:pt x="3846360" y="1250448"/>
                  </a:lnTo>
                  <a:lnTo>
                    <a:pt x="3891916" y="1230680"/>
                  </a:lnTo>
                  <a:lnTo>
                    <a:pt x="3939691" y="1205658"/>
                  </a:lnTo>
                  <a:lnTo>
                    <a:pt x="3982622" y="1178440"/>
                  </a:lnTo>
                  <a:lnTo>
                    <a:pt x="4020660" y="1149265"/>
                  </a:lnTo>
                  <a:lnTo>
                    <a:pt x="4053754" y="1118367"/>
                  </a:lnTo>
                  <a:lnTo>
                    <a:pt x="4081854" y="1085983"/>
                  </a:lnTo>
                  <a:lnTo>
                    <a:pt x="4104910" y="1052349"/>
                  </a:lnTo>
                  <a:lnTo>
                    <a:pt x="4122872" y="1017701"/>
                  </a:lnTo>
                  <a:lnTo>
                    <a:pt x="4143313" y="946309"/>
                  </a:lnTo>
                  <a:lnTo>
                    <a:pt x="4145692" y="910037"/>
                  </a:lnTo>
                  <a:lnTo>
                    <a:pt x="4142777" y="873696"/>
                  </a:lnTo>
                  <a:lnTo>
                    <a:pt x="4120863" y="801753"/>
                  </a:lnTo>
                  <a:lnTo>
                    <a:pt x="4101763" y="766624"/>
                  </a:lnTo>
                  <a:lnTo>
                    <a:pt x="4077169" y="732370"/>
                  </a:lnTo>
                  <a:lnTo>
                    <a:pt x="4047030" y="699228"/>
                  </a:lnTo>
                  <a:lnTo>
                    <a:pt x="4011296" y="667435"/>
                  </a:lnTo>
                  <a:lnTo>
                    <a:pt x="4018039" y="657193"/>
                  </a:lnTo>
                  <a:lnTo>
                    <a:pt x="4047133" y="589553"/>
                  </a:lnTo>
                  <a:lnTo>
                    <a:pt x="4052552" y="553459"/>
                  </a:lnTo>
                  <a:lnTo>
                    <a:pt x="4051319" y="517789"/>
                  </a:lnTo>
                  <a:lnTo>
                    <a:pt x="4029970" y="448886"/>
                  </a:lnTo>
                  <a:lnTo>
                    <a:pt x="3985245" y="385177"/>
                  </a:lnTo>
                  <a:lnTo>
                    <a:pt x="3954791" y="356000"/>
                  </a:lnTo>
                  <a:lnTo>
                    <a:pt x="3919301" y="328995"/>
                  </a:lnTo>
                  <a:lnTo>
                    <a:pt x="3879046" y="304456"/>
                  </a:lnTo>
                  <a:lnTo>
                    <a:pt x="3834295" y="282673"/>
                  </a:lnTo>
                  <a:lnTo>
                    <a:pt x="3785317" y="263938"/>
                  </a:lnTo>
                  <a:lnTo>
                    <a:pt x="3732383" y="248542"/>
                  </a:lnTo>
                  <a:lnTo>
                    <a:pt x="3675762" y="236778"/>
                  </a:lnTo>
                  <a:lnTo>
                    <a:pt x="3660021" y="198209"/>
                  </a:lnTo>
                  <a:lnTo>
                    <a:pt x="3635972" y="161616"/>
                  </a:lnTo>
                  <a:lnTo>
                    <a:pt x="3604082" y="127480"/>
                  </a:lnTo>
                  <a:lnTo>
                    <a:pt x="3564823" y="96281"/>
                  </a:lnTo>
                  <a:lnTo>
                    <a:pt x="3518663" y="68503"/>
                  </a:lnTo>
                  <a:lnTo>
                    <a:pt x="3475232" y="48309"/>
                  </a:lnTo>
                  <a:lnTo>
                    <a:pt x="3429303" y="31691"/>
                  </a:lnTo>
                  <a:lnTo>
                    <a:pt x="3381369" y="18622"/>
                  </a:lnTo>
                  <a:lnTo>
                    <a:pt x="3331922" y="9077"/>
                  </a:lnTo>
                  <a:lnTo>
                    <a:pt x="3281455" y="3031"/>
                  </a:lnTo>
                  <a:lnTo>
                    <a:pt x="3230461" y="459"/>
                  </a:lnTo>
                  <a:lnTo>
                    <a:pt x="3179430" y="1336"/>
                  </a:lnTo>
                  <a:lnTo>
                    <a:pt x="3128857" y="5635"/>
                  </a:lnTo>
                  <a:lnTo>
                    <a:pt x="3079233" y="13333"/>
                  </a:lnTo>
                  <a:lnTo>
                    <a:pt x="3031050" y="24403"/>
                  </a:lnTo>
                  <a:lnTo>
                    <a:pt x="2984801" y="38820"/>
                  </a:lnTo>
                  <a:lnTo>
                    <a:pt x="2940978" y="56560"/>
                  </a:lnTo>
                  <a:lnTo>
                    <a:pt x="2900074" y="77596"/>
                  </a:lnTo>
                  <a:lnTo>
                    <a:pt x="2862581" y="101904"/>
                  </a:lnTo>
                  <a:lnTo>
                    <a:pt x="2831423" y="79431"/>
                  </a:lnTo>
                  <a:lnTo>
                    <a:pt x="2796478" y="59375"/>
                  </a:lnTo>
                  <a:lnTo>
                    <a:pt x="2758104" y="41914"/>
                  </a:lnTo>
                  <a:lnTo>
                    <a:pt x="2716658" y="27228"/>
                  </a:lnTo>
                  <a:lnTo>
                    <a:pt x="2668217" y="14524"/>
                  </a:lnTo>
                  <a:lnTo>
                    <a:pt x="2618727" y="5824"/>
                  </a:lnTo>
                  <a:lnTo>
                    <a:pt x="2568715" y="1018"/>
                  </a:lnTo>
                  <a:lnTo>
                    <a:pt x="2518705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7" name="Google Shape;457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56144" y="3459352"/>
              <a:ext cx="209169" cy="209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33"/>
            <p:cNvSpPr/>
            <p:nvPr/>
          </p:nvSpPr>
          <p:spPr>
            <a:xfrm>
              <a:off x="7567548" y="3184016"/>
              <a:ext cx="313690" cy="313689"/>
            </a:xfrm>
            <a:custGeom>
              <a:rect b="b" l="l" r="r" t="t"/>
              <a:pathLst>
                <a:path extrusionOk="0" h="313689" w="313690">
                  <a:moveTo>
                    <a:pt x="156845" y="0"/>
                  </a:moveTo>
                  <a:lnTo>
                    <a:pt x="107273" y="7984"/>
                  </a:lnTo>
                  <a:lnTo>
                    <a:pt x="64218" y="30228"/>
                  </a:lnTo>
                  <a:lnTo>
                    <a:pt x="30264" y="64163"/>
                  </a:lnTo>
                  <a:lnTo>
                    <a:pt x="7996" y="107224"/>
                  </a:lnTo>
                  <a:lnTo>
                    <a:pt x="0" y="156845"/>
                  </a:lnTo>
                  <a:lnTo>
                    <a:pt x="7996" y="206416"/>
                  </a:lnTo>
                  <a:lnTo>
                    <a:pt x="30264" y="249471"/>
                  </a:lnTo>
                  <a:lnTo>
                    <a:pt x="64218" y="283425"/>
                  </a:lnTo>
                  <a:lnTo>
                    <a:pt x="107273" y="305693"/>
                  </a:lnTo>
                  <a:lnTo>
                    <a:pt x="156845" y="313690"/>
                  </a:lnTo>
                  <a:lnTo>
                    <a:pt x="206416" y="305693"/>
                  </a:lnTo>
                  <a:lnTo>
                    <a:pt x="249471" y="283425"/>
                  </a:lnTo>
                  <a:lnTo>
                    <a:pt x="283425" y="249471"/>
                  </a:lnTo>
                  <a:lnTo>
                    <a:pt x="305693" y="206416"/>
                  </a:lnTo>
                  <a:lnTo>
                    <a:pt x="313690" y="156845"/>
                  </a:lnTo>
                  <a:lnTo>
                    <a:pt x="305693" y="107224"/>
                  </a:lnTo>
                  <a:lnTo>
                    <a:pt x="283425" y="64163"/>
                  </a:lnTo>
                  <a:lnTo>
                    <a:pt x="249471" y="30228"/>
                  </a:lnTo>
                  <a:lnTo>
                    <a:pt x="206416" y="7984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006FC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3"/>
            <p:cNvSpPr/>
            <p:nvPr/>
          </p:nvSpPr>
          <p:spPr>
            <a:xfrm>
              <a:off x="7158226" y="1481404"/>
              <a:ext cx="4145915" cy="1882775"/>
            </a:xfrm>
            <a:custGeom>
              <a:rect b="b" l="l" r="r" t="t"/>
              <a:pathLst>
                <a:path extrusionOk="0" h="1882775" w="4145915">
                  <a:moveTo>
                    <a:pt x="376810" y="619937"/>
                  </a:moveTo>
                  <a:lnTo>
                    <a:pt x="371498" y="583592"/>
                  </a:lnTo>
                  <a:lnTo>
                    <a:pt x="371475" y="547730"/>
                  </a:lnTo>
                  <a:lnTo>
                    <a:pt x="376545" y="512511"/>
                  </a:lnTo>
                  <a:lnTo>
                    <a:pt x="401186" y="444633"/>
                  </a:lnTo>
                  <a:lnTo>
                    <a:pt x="443859" y="381228"/>
                  </a:lnTo>
                  <a:lnTo>
                    <a:pt x="471469" y="351600"/>
                  </a:lnTo>
                  <a:lnTo>
                    <a:pt x="503001" y="323566"/>
                  </a:lnTo>
                  <a:lnTo>
                    <a:pt x="538259" y="297286"/>
                  </a:lnTo>
                  <a:lnTo>
                    <a:pt x="577048" y="272918"/>
                  </a:lnTo>
                  <a:lnTo>
                    <a:pt x="619173" y="250621"/>
                  </a:lnTo>
                  <a:lnTo>
                    <a:pt x="664439" y="230553"/>
                  </a:lnTo>
                  <a:lnTo>
                    <a:pt x="712650" y="212874"/>
                  </a:lnTo>
                  <a:lnTo>
                    <a:pt x="763611" y="197741"/>
                  </a:lnTo>
                  <a:lnTo>
                    <a:pt x="817126" y="185315"/>
                  </a:lnTo>
                  <a:lnTo>
                    <a:pt x="873000" y="175753"/>
                  </a:lnTo>
                  <a:lnTo>
                    <a:pt x="931038" y="169214"/>
                  </a:lnTo>
                  <a:lnTo>
                    <a:pt x="984922" y="166095"/>
                  </a:lnTo>
                  <a:lnTo>
                    <a:pt x="1038758" y="165765"/>
                  </a:lnTo>
                  <a:lnTo>
                    <a:pt x="1092273" y="168191"/>
                  </a:lnTo>
                  <a:lnTo>
                    <a:pt x="1145192" y="173341"/>
                  </a:lnTo>
                  <a:lnTo>
                    <a:pt x="1197242" y="181182"/>
                  </a:lnTo>
                  <a:lnTo>
                    <a:pt x="1248149" y="191681"/>
                  </a:lnTo>
                  <a:lnTo>
                    <a:pt x="1297640" y="204805"/>
                  </a:lnTo>
                  <a:lnTo>
                    <a:pt x="1345439" y="220522"/>
                  </a:lnTo>
                  <a:lnTo>
                    <a:pt x="1374222" y="190925"/>
                  </a:lnTo>
                  <a:lnTo>
                    <a:pt x="1407303" y="163962"/>
                  </a:lnTo>
                  <a:lnTo>
                    <a:pt x="1444263" y="139712"/>
                  </a:lnTo>
                  <a:lnTo>
                    <a:pt x="1484678" y="118255"/>
                  </a:lnTo>
                  <a:lnTo>
                    <a:pt x="1528126" y="99670"/>
                  </a:lnTo>
                  <a:lnTo>
                    <a:pt x="1574188" y="84036"/>
                  </a:lnTo>
                  <a:lnTo>
                    <a:pt x="1622439" y="71435"/>
                  </a:lnTo>
                  <a:lnTo>
                    <a:pt x="1672460" y="61945"/>
                  </a:lnTo>
                  <a:lnTo>
                    <a:pt x="1723827" y="55646"/>
                  </a:lnTo>
                  <a:lnTo>
                    <a:pt x="1776120" y="52618"/>
                  </a:lnTo>
                  <a:lnTo>
                    <a:pt x="1828916" y="52941"/>
                  </a:lnTo>
                  <a:lnTo>
                    <a:pt x="1881794" y="56694"/>
                  </a:lnTo>
                  <a:lnTo>
                    <a:pt x="1934332" y="63957"/>
                  </a:lnTo>
                  <a:lnTo>
                    <a:pt x="1986108" y="74809"/>
                  </a:lnTo>
                  <a:lnTo>
                    <a:pt x="2036700" y="89331"/>
                  </a:lnTo>
                  <a:lnTo>
                    <a:pt x="2099216" y="113699"/>
                  </a:lnTo>
                  <a:lnTo>
                    <a:pt x="2155445" y="143306"/>
                  </a:lnTo>
                  <a:lnTo>
                    <a:pt x="2181784" y="115132"/>
                  </a:lnTo>
                  <a:lnTo>
                    <a:pt x="2212855" y="89768"/>
                  </a:lnTo>
                  <a:lnTo>
                    <a:pt x="2248132" y="67322"/>
                  </a:lnTo>
                  <a:lnTo>
                    <a:pt x="2287091" y="47902"/>
                  </a:lnTo>
                  <a:lnTo>
                    <a:pt x="2329204" y="31617"/>
                  </a:lnTo>
                  <a:lnTo>
                    <a:pt x="2373948" y="18576"/>
                  </a:lnTo>
                  <a:lnTo>
                    <a:pt x="2420797" y="8887"/>
                  </a:lnTo>
                  <a:lnTo>
                    <a:pt x="2469224" y="2658"/>
                  </a:lnTo>
                  <a:lnTo>
                    <a:pt x="2518705" y="0"/>
                  </a:lnTo>
                  <a:lnTo>
                    <a:pt x="2568715" y="1018"/>
                  </a:lnTo>
                  <a:lnTo>
                    <a:pt x="2618727" y="5824"/>
                  </a:lnTo>
                  <a:lnTo>
                    <a:pt x="2668217" y="14524"/>
                  </a:lnTo>
                  <a:lnTo>
                    <a:pt x="2716658" y="27228"/>
                  </a:lnTo>
                  <a:lnTo>
                    <a:pt x="2758104" y="41914"/>
                  </a:lnTo>
                  <a:lnTo>
                    <a:pt x="2796478" y="59375"/>
                  </a:lnTo>
                  <a:lnTo>
                    <a:pt x="2831423" y="79431"/>
                  </a:lnTo>
                  <a:lnTo>
                    <a:pt x="2862581" y="101904"/>
                  </a:lnTo>
                  <a:lnTo>
                    <a:pt x="2900074" y="77596"/>
                  </a:lnTo>
                  <a:lnTo>
                    <a:pt x="2940978" y="56560"/>
                  </a:lnTo>
                  <a:lnTo>
                    <a:pt x="2984801" y="38820"/>
                  </a:lnTo>
                  <a:lnTo>
                    <a:pt x="3031050" y="24403"/>
                  </a:lnTo>
                  <a:lnTo>
                    <a:pt x="3079233" y="13333"/>
                  </a:lnTo>
                  <a:lnTo>
                    <a:pt x="3128857" y="5635"/>
                  </a:lnTo>
                  <a:lnTo>
                    <a:pt x="3179430" y="1336"/>
                  </a:lnTo>
                  <a:lnTo>
                    <a:pt x="3230461" y="459"/>
                  </a:lnTo>
                  <a:lnTo>
                    <a:pt x="3281455" y="3031"/>
                  </a:lnTo>
                  <a:lnTo>
                    <a:pt x="3331922" y="9077"/>
                  </a:lnTo>
                  <a:lnTo>
                    <a:pt x="3381369" y="18622"/>
                  </a:lnTo>
                  <a:lnTo>
                    <a:pt x="3429303" y="31691"/>
                  </a:lnTo>
                  <a:lnTo>
                    <a:pt x="3475232" y="48309"/>
                  </a:lnTo>
                  <a:lnTo>
                    <a:pt x="3518663" y="68503"/>
                  </a:lnTo>
                  <a:lnTo>
                    <a:pt x="3564823" y="96281"/>
                  </a:lnTo>
                  <a:lnTo>
                    <a:pt x="3604082" y="127480"/>
                  </a:lnTo>
                  <a:lnTo>
                    <a:pt x="3635972" y="161616"/>
                  </a:lnTo>
                  <a:lnTo>
                    <a:pt x="3660021" y="198209"/>
                  </a:lnTo>
                  <a:lnTo>
                    <a:pt x="3675762" y="236778"/>
                  </a:lnTo>
                  <a:lnTo>
                    <a:pt x="3732383" y="248542"/>
                  </a:lnTo>
                  <a:lnTo>
                    <a:pt x="3785317" y="263938"/>
                  </a:lnTo>
                  <a:lnTo>
                    <a:pt x="3834295" y="282673"/>
                  </a:lnTo>
                  <a:lnTo>
                    <a:pt x="3879046" y="304456"/>
                  </a:lnTo>
                  <a:lnTo>
                    <a:pt x="3919301" y="328995"/>
                  </a:lnTo>
                  <a:lnTo>
                    <a:pt x="3954791" y="356000"/>
                  </a:lnTo>
                  <a:lnTo>
                    <a:pt x="3985245" y="385177"/>
                  </a:lnTo>
                  <a:lnTo>
                    <a:pt x="4010395" y="416237"/>
                  </a:lnTo>
                  <a:lnTo>
                    <a:pt x="4043701" y="482834"/>
                  </a:lnTo>
                  <a:lnTo>
                    <a:pt x="4052552" y="553459"/>
                  </a:lnTo>
                  <a:lnTo>
                    <a:pt x="4047133" y="589553"/>
                  </a:lnTo>
                  <a:lnTo>
                    <a:pt x="4034791" y="625779"/>
                  </a:lnTo>
                  <a:lnTo>
                    <a:pt x="4011296" y="667435"/>
                  </a:lnTo>
                  <a:lnTo>
                    <a:pt x="4047030" y="699228"/>
                  </a:lnTo>
                  <a:lnTo>
                    <a:pt x="4077169" y="732370"/>
                  </a:lnTo>
                  <a:lnTo>
                    <a:pt x="4101763" y="766624"/>
                  </a:lnTo>
                  <a:lnTo>
                    <a:pt x="4120863" y="801753"/>
                  </a:lnTo>
                  <a:lnTo>
                    <a:pt x="4134517" y="837523"/>
                  </a:lnTo>
                  <a:lnTo>
                    <a:pt x="4145692" y="910037"/>
                  </a:lnTo>
                  <a:lnTo>
                    <a:pt x="4143313" y="946309"/>
                  </a:lnTo>
                  <a:lnTo>
                    <a:pt x="4122872" y="1017701"/>
                  </a:lnTo>
                  <a:lnTo>
                    <a:pt x="4104910" y="1052349"/>
                  </a:lnTo>
                  <a:lnTo>
                    <a:pt x="4081854" y="1085983"/>
                  </a:lnTo>
                  <a:lnTo>
                    <a:pt x="4053754" y="1118367"/>
                  </a:lnTo>
                  <a:lnTo>
                    <a:pt x="4020660" y="1149265"/>
                  </a:lnTo>
                  <a:lnTo>
                    <a:pt x="3982622" y="1178440"/>
                  </a:lnTo>
                  <a:lnTo>
                    <a:pt x="3939691" y="1205658"/>
                  </a:lnTo>
                  <a:lnTo>
                    <a:pt x="3891916" y="1230680"/>
                  </a:lnTo>
                  <a:lnTo>
                    <a:pt x="3846360" y="1250448"/>
                  </a:lnTo>
                  <a:lnTo>
                    <a:pt x="3798402" y="1267670"/>
                  </a:lnTo>
                  <a:lnTo>
                    <a:pt x="3748327" y="1282274"/>
                  </a:lnTo>
                  <a:lnTo>
                    <a:pt x="3696421" y="1294189"/>
                  </a:lnTo>
                  <a:lnTo>
                    <a:pt x="3642970" y="1303346"/>
                  </a:lnTo>
                  <a:lnTo>
                    <a:pt x="3588259" y="1309674"/>
                  </a:lnTo>
                  <a:lnTo>
                    <a:pt x="3584949" y="1344714"/>
                  </a:lnTo>
                  <a:lnTo>
                    <a:pt x="3562022" y="1411495"/>
                  </a:lnTo>
                  <a:lnTo>
                    <a:pt x="3519229" y="1472740"/>
                  </a:lnTo>
                  <a:lnTo>
                    <a:pt x="3491086" y="1500861"/>
                  </a:lnTo>
                  <a:lnTo>
                    <a:pt x="3458821" y="1527085"/>
                  </a:lnTo>
                  <a:lnTo>
                    <a:pt x="3422715" y="1551244"/>
                  </a:lnTo>
                  <a:lnTo>
                    <a:pt x="3383048" y="1573165"/>
                  </a:lnTo>
                  <a:lnTo>
                    <a:pt x="3340103" y="1592679"/>
                  </a:lnTo>
                  <a:lnTo>
                    <a:pt x="3294161" y="1609615"/>
                  </a:lnTo>
                  <a:lnTo>
                    <a:pt x="3245502" y="1623802"/>
                  </a:lnTo>
                  <a:lnTo>
                    <a:pt x="3194409" y="1635070"/>
                  </a:lnTo>
                  <a:lnTo>
                    <a:pt x="3141162" y="1643248"/>
                  </a:lnTo>
                  <a:lnTo>
                    <a:pt x="3086043" y="1648166"/>
                  </a:lnTo>
                  <a:lnTo>
                    <a:pt x="3029332" y="1649653"/>
                  </a:lnTo>
                  <a:lnTo>
                    <a:pt x="2978393" y="1647957"/>
                  </a:lnTo>
                  <a:lnTo>
                    <a:pt x="2928142" y="1643411"/>
                  </a:lnTo>
                  <a:lnTo>
                    <a:pt x="2878885" y="1636064"/>
                  </a:lnTo>
                  <a:lnTo>
                    <a:pt x="2830930" y="1625965"/>
                  </a:lnTo>
                  <a:lnTo>
                    <a:pt x="2784584" y="1613164"/>
                  </a:lnTo>
                  <a:lnTo>
                    <a:pt x="2740153" y="1597710"/>
                  </a:lnTo>
                  <a:lnTo>
                    <a:pt x="2721690" y="1630437"/>
                  </a:lnTo>
                  <a:lnTo>
                    <a:pt x="2699189" y="1661550"/>
                  </a:lnTo>
                  <a:lnTo>
                    <a:pt x="2672890" y="1690967"/>
                  </a:lnTo>
                  <a:lnTo>
                    <a:pt x="2643037" y="1718610"/>
                  </a:lnTo>
                  <a:lnTo>
                    <a:pt x="2609871" y="1744397"/>
                  </a:lnTo>
                  <a:lnTo>
                    <a:pt x="2573634" y="1768248"/>
                  </a:lnTo>
                  <a:lnTo>
                    <a:pt x="2534568" y="1790083"/>
                  </a:lnTo>
                  <a:lnTo>
                    <a:pt x="2492915" y="1809823"/>
                  </a:lnTo>
                  <a:lnTo>
                    <a:pt x="2448917" y="1827386"/>
                  </a:lnTo>
                  <a:lnTo>
                    <a:pt x="2402816" y="1842693"/>
                  </a:lnTo>
                  <a:lnTo>
                    <a:pt x="2354854" y="1855663"/>
                  </a:lnTo>
                  <a:lnTo>
                    <a:pt x="2305273" y="1866217"/>
                  </a:lnTo>
                  <a:lnTo>
                    <a:pt x="2254314" y="1874273"/>
                  </a:lnTo>
                  <a:lnTo>
                    <a:pt x="2202221" y="1879752"/>
                  </a:lnTo>
                  <a:lnTo>
                    <a:pt x="2149234" y="1882573"/>
                  </a:lnTo>
                  <a:lnTo>
                    <a:pt x="2095597" y="1882657"/>
                  </a:lnTo>
                  <a:lnTo>
                    <a:pt x="2041550" y="1879923"/>
                  </a:lnTo>
                  <a:lnTo>
                    <a:pt x="1987335" y="1874290"/>
                  </a:lnTo>
                  <a:lnTo>
                    <a:pt x="1933195" y="1865680"/>
                  </a:lnTo>
                  <a:lnTo>
                    <a:pt x="1880384" y="1854155"/>
                  </a:lnTo>
                  <a:lnTo>
                    <a:pt x="1829653" y="1839944"/>
                  </a:lnTo>
                  <a:lnTo>
                    <a:pt x="1781246" y="1823159"/>
                  </a:lnTo>
                  <a:lnTo>
                    <a:pt x="1735409" y="1803910"/>
                  </a:lnTo>
                  <a:lnTo>
                    <a:pt x="1692388" y="1782310"/>
                  </a:lnTo>
                  <a:lnTo>
                    <a:pt x="1652428" y="1758470"/>
                  </a:lnTo>
                  <a:lnTo>
                    <a:pt x="1615775" y="1732502"/>
                  </a:lnTo>
                  <a:lnTo>
                    <a:pt x="1582675" y="1704517"/>
                  </a:lnTo>
                  <a:lnTo>
                    <a:pt x="1534298" y="1721096"/>
                  </a:lnTo>
                  <a:lnTo>
                    <a:pt x="1484825" y="1735214"/>
                  </a:lnTo>
                  <a:lnTo>
                    <a:pt x="1434451" y="1746900"/>
                  </a:lnTo>
                  <a:lnTo>
                    <a:pt x="1383374" y="1756185"/>
                  </a:lnTo>
                  <a:lnTo>
                    <a:pt x="1331789" y="1763099"/>
                  </a:lnTo>
                  <a:lnTo>
                    <a:pt x="1279892" y="1767674"/>
                  </a:lnTo>
                  <a:lnTo>
                    <a:pt x="1227880" y="1769938"/>
                  </a:lnTo>
                  <a:lnTo>
                    <a:pt x="1175949" y="1769924"/>
                  </a:lnTo>
                  <a:lnTo>
                    <a:pt x="1124296" y="1767660"/>
                  </a:lnTo>
                  <a:lnTo>
                    <a:pt x="1073116" y="1763178"/>
                  </a:lnTo>
                  <a:lnTo>
                    <a:pt x="1022605" y="1756507"/>
                  </a:lnTo>
                  <a:lnTo>
                    <a:pt x="972961" y="1747679"/>
                  </a:lnTo>
                  <a:lnTo>
                    <a:pt x="924378" y="1736724"/>
                  </a:lnTo>
                  <a:lnTo>
                    <a:pt x="877054" y="1723672"/>
                  </a:lnTo>
                  <a:lnTo>
                    <a:pt x="831185" y="1708553"/>
                  </a:lnTo>
                  <a:lnTo>
                    <a:pt x="786966" y="1691399"/>
                  </a:lnTo>
                  <a:lnTo>
                    <a:pt x="744595" y="1672239"/>
                  </a:lnTo>
                  <a:lnTo>
                    <a:pt x="704267" y="1651103"/>
                  </a:lnTo>
                  <a:lnTo>
                    <a:pt x="666178" y="1628023"/>
                  </a:lnTo>
                  <a:lnTo>
                    <a:pt x="630525" y="1603028"/>
                  </a:lnTo>
                  <a:lnTo>
                    <a:pt x="597503" y="1576150"/>
                  </a:lnTo>
                  <a:lnTo>
                    <a:pt x="567310" y="1547418"/>
                  </a:lnTo>
                  <a:lnTo>
                    <a:pt x="559436" y="1539163"/>
                  </a:lnTo>
                  <a:lnTo>
                    <a:pt x="502669" y="1540912"/>
                  </a:lnTo>
                  <a:lnTo>
                    <a:pt x="447355" y="1538019"/>
                  </a:lnTo>
                  <a:lnTo>
                    <a:pt x="394045" y="1530755"/>
                  </a:lnTo>
                  <a:lnTo>
                    <a:pt x="343292" y="1519388"/>
                  </a:lnTo>
                  <a:lnTo>
                    <a:pt x="295649" y="1504189"/>
                  </a:lnTo>
                  <a:lnTo>
                    <a:pt x="251668" y="1485426"/>
                  </a:lnTo>
                  <a:lnTo>
                    <a:pt x="211902" y="1463369"/>
                  </a:lnTo>
                  <a:lnTo>
                    <a:pt x="176903" y="1438287"/>
                  </a:lnTo>
                  <a:lnTo>
                    <a:pt x="147224" y="1410450"/>
                  </a:lnTo>
                  <a:lnTo>
                    <a:pt x="123418" y="1380128"/>
                  </a:lnTo>
                  <a:lnTo>
                    <a:pt x="95632" y="1313103"/>
                  </a:lnTo>
                  <a:lnTo>
                    <a:pt x="93489" y="1268061"/>
                  </a:lnTo>
                  <a:lnTo>
                    <a:pt x="103933" y="1223953"/>
                  </a:lnTo>
                  <a:lnTo>
                    <a:pt x="126448" y="1181740"/>
                  </a:lnTo>
                  <a:lnTo>
                    <a:pt x="160514" y="1142386"/>
                  </a:lnTo>
                  <a:lnTo>
                    <a:pt x="205614" y="1106855"/>
                  </a:lnTo>
                  <a:lnTo>
                    <a:pt x="154785" y="1085097"/>
                  </a:lnTo>
                  <a:lnTo>
                    <a:pt x="110722" y="1059604"/>
                  </a:lnTo>
                  <a:lnTo>
                    <a:pt x="73658" y="1030926"/>
                  </a:lnTo>
                  <a:lnTo>
                    <a:pt x="43823" y="999608"/>
                  </a:lnTo>
                  <a:lnTo>
                    <a:pt x="21448" y="966200"/>
                  </a:lnTo>
                  <a:lnTo>
                    <a:pt x="0" y="895302"/>
                  </a:lnTo>
                  <a:lnTo>
                    <a:pt x="1388" y="858909"/>
                  </a:lnTo>
                  <a:lnTo>
                    <a:pt x="29542" y="786972"/>
                  </a:lnTo>
                  <a:lnTo>
                    <a:pt x="56770" y="752525"/>
                  </a:lnTo>
                  <a:lnTo>
                    <a:pt x="88498" y="723517"/>
                  </a:lnTo>
                  <a:lnTo>
                    <a:pt x="125781" y="697728"/>
                  </a:lnTo>
                  <a:lnTo>
                    <a:pt x="167988" y="675407"/>
                  </a:lnTo>
                  <a:lnTo>
                    <a:pt x="214484" y="656803"/>
                  </a:lnTo>
                  <a:lnTo>
                    <a:pt x="264637" y="642164"/>
                  </a:lnTo>
                  <a:lnTo>
                    <a:pt x="317814" y="631740"/>
                  </a:lnTo>
                  <a:lnTo>
                    <a:pt x="373381" y="625779"/>
                  </a:lnTo>
                  <a:lnTo>
                    <a:pt x="376810" y="619937"/>
                  </a:lnTo>
                  <a:close/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60" name="Google Shape;460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50048" y="3453256"/>
              <a:ext cx="221361" cy="2212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33"/>
            <p:cNvSpPr/>
            <p:nvPr/>
          </p:nvSpPr>
          <p:spPr>
            <a:xfrm>
              <a:off x="7368285" y="1577212"/>
              <a:ext cx="3799840" cy="1920875"/>
            </a:xfrm>
            <a:custGeom>
              <a:rect b="b" l="l" r="r" t="t"/>
              <a:pathLst>
                <a:path extrusionOk="0" h="1920875" w="3799840">
                  <a:moveTo>
                    <a:pt x="512953" y="1763649"/>
                  </a:moveTo>
                  <a:lnTo>
                    <a:pt x="504956" y="1813220"/>
                  </a:lnTo>
                  <a:lnTo>
                    <a:pt x="482688" y="1856275"/>
                  </a:lnTo>
                  <a:lnTo>
                    <a:pt x="448734" y="1890229"/>
                  </a:lnTo>
                  <a:lnTo>
                    <a:pt x="405679" y="1912497"/>
                  </a:lnTo>
                  <a:lnTo>
                    <a:pt x="356108" y="1920494"/>
                  </a:lnTo>
                  <a:lnTo>
                    <a:pt x="306536" y="1912497"/>
                  </a:lnTo>
                  <a:lnTo>
                    <a:pt x="263481" y="1890229"/>
                  </a:lnTo>
                  <a:lnTo>
                    <a:pt x="229527" y="1856275"/>
                  </a:lnTo>
                  <a:lnTo>
                    <a:pt x="207259" y="1813220"/>
                  </a:lnTo>
                  <a:lnTo>
                    <a:pt x="199263" y="1763649"/>
                  </a:lnTo>
                  <a:lnTo>
                    <a:pt x="207259" y="1714028"/>
                  </a:lnTo>
                  <a:lnTo>
                    <a:pt x="229527" y="1670967"/>
                  </a:lnTo>
                  <a:lnTo>
                    <a:pt x="263481" y="1637032"/>
                  </a:lnTo>
                  <a:lnTo>
                    <a:pt x="306536" y="1614788"/>
                  </a:lnTo>
                  <a:lnTo>
                    <a:pt x="356108" y="1606803"/>
                  </a:lnTo>
                  <a:lnTo>
                    <a:pt x="405679" y="1614788"/>
                  </a:lnTo>
                  <a:lnTo>
                    <a:pt x="448734" y="1637032"/>
                  </a:lnTo>
                  <a:lnTo>
                    <a:pt x="482688" y="1670967"/>
                  </a:lnTo>
                  <a:lnTo>
                    <a:pt x="504956" y="1714028"/>
                  </a:lnTo>
                  <a:lnTo>
                    <a:pt x="512953" y="1763649"/>
                  </a:lnTo>
                  <a:close/>
                </a:path>
                <a:path extrusionOk="0" h="1920875" w="3799840">
                  <a:moveTo>
                    <a:pt x="242824" y="1038478"/>
                  </a:moveTo>
                  <a:lnTo>
                    <a:pt x="192089" y="1038994"/>
                  </a:lnTo>
                  <a:lnTo>
                    <a:pt x="141896" y="1035711"/>
                  </a:lnTo>
                  <a:lnTo>
                    <a:pt x="92789" y="1028704"/>
                  </a:lnTo>
                  <a:lnTo>
                    <a:pt x="45309" y="1018045"/>
                  </a:lnTo>
                  <a:lnTo>
                    <a:pt x="0" y="1003808"/>
                  </a:lnTo>
                </a:path>
                <a:path extrusionOk="0" h="1920875" w="3799840">
                  <a:moveTo>
                    <a:pt x="457073" y="1418463"/>
                  </a:moveTo>
                  <a:lnTo>
                    <a:pt x="431176" y="1424223"/>
                  </a:lnTo>
                  <a:lnTo>
                    <a:pt x="404780" y="1428924"/>
                  </a:lnTo>
                  <a:lnTo>
                    <a:pt x="377955" y="1432554"/>
                  </a:lnTo>
                  <a:lnTo>
                    <a:pt x="350774" y="1435100"/>
                  </a:lnTo>
                </a:path>
                <a:path extrusionOk="0" h="1920875" w="3799840">
                  <a:moveTo>
                    <a:pt x="1372362" y="1601089"/>
                  </a:moveTo>
                  <a:lnTo>
                    <a:pt x="1353984" y="1582973"/>
                  </a:lnTo>
                  <a:lnTo>
                    <a:pt x="1337167" y="1564274"/>
                  </a:lnTo>
                  <a:lnTo>
                    <a:pt x="1321944" y="1545028"/>
                  </a:lnTo>
                  <a:lnTo>
                    <a:pt x="1308354" y="1525270"/>
                  </a:lnTo>
                </a:path>
                <a:path extrusionOk="0" h="1920875" w="3799840">
                  <a:moveTo>
                    <a:pt x="2556002" y="1412113"/>
                  </a:moveTo>
                  <a:lnTo>
                    <a:pt x="2552317" y="1433183"/>
                  </a:lnTo>
                  <a:lnTo>
                    <a:pt x="2546810" y="1454086"/>
                  </a:lnTo>
                  <a:lnTo>
                    <a:pt x="2539517" y="1474799"/>
                  </a:lnTo>
                  <a:lnTo>
                    <a:pt x="2530475" y="1495298"/>
                  </a:lnTo>
                </a:path>
                <a:path extrusionOk="0" h="1920875" w="3799840">
                  <a:moveTo>
                    <a:pt x="3064256" y="898016"/>
                  </a:moveTo>
                  <a:lnTo>
                    <a:pt x="3119719" y="917228"/>
                  </a:lnTo>
                  <a:lnTo>
                    <a:pt x="3170612" y="939908"/>
                  </a:lnTo>
                  <a:lnTo>
                    <a:pt x="3216624" y="965746"/>
                  </a:lnTo>
                  <a:lnTo>
                    <a:pt x="3257444" y="994431"/>
                  </a:lnTo>
                  <a:lnTo>
                    <a:pt x="3292760" y="1025652"/>
                  </a:lnTo>
                  <a:lnTo>
                    <a:pt x="3322263" y="1059097"/>
                  </a:lnTo>
                  <a:lnTo>
                    <a:pt x="3345640" y="1094457"/>
                  </a:lnTo>
                  <a:lnTo>
                    <a:pt x="3362582" y="1131420"/>
                  </a:lnTo>
                  <a:lnTo>
                    <a:pt x="3372776" y="1169676"/>
                  </a:lnTo>
                  <a:lnTo>
                    <a:pt x="3375914" y="1208913"/>
                  </a:lnTo>
                </a:path>
                <a:path extrusionOk="0" h="1920875" w="3799840">
                  <a:moveTo>
                    <a:pt x="3799332" y="566927"/>
                  </a:moveTo>
                  <a:lnTo>
                    <a:pt x="3772981" y="599664"/>
                  </a:lnTo>
                  <a:lnTo>
                    <a:pt x="3740832" y="630221"/>
                  </a:lnTo>
                  <a:lnTo>
                    <a:pt x="3703230" y="658278"/>
                  </a:lnTo>
                  <a:lnTo>
                    <a:pt x="3660521" y="683513"/>
                  </a:lnTo>
                </a:path>
                <a:path extrusionOk="0" h="1920875" w="3799840">
                  <a:moveTo>
                    <a:pt x="3466338" y="134365"/>
                  </a:moveTo>
                  <a:lnTo>
                    <a:pt x="3469792" y="148050"/>
                  </a:lnTo>
                  <a:lnTo>
                    <a:pt x="3472164" y="161829"/>
                  </a:lnTo>
                  <a:lnTo>
                    <a:pt x="3473463" y="175656"/>
                  </a:lnTo>
                  <a:lnTo>
                    <a:pt x="3473704" y="189484"/>
                  </a:lnTo>
                </a:path>
                <a:path extrusionOk="0" h="1920875" w="3799840">
                  <a:moveTo>
                    <a:pt x="2580132" y="70231"/>
                  </a:moveTo>
                  <a:lnTo>
                    <a:pt x="2594762" y="51524"/>
                  </a:lnTo>
                  <a:lnTo>
                    <a:pt x="2611548" y="33543"/>
                  </a:lnTo>
                  <a:lnTo>
                    <a:pt x="2630406" y="16349"/>
                  </a:lnTo>
                  <a:lnTo>
                    <a:pt x="2651252" y="0"/>
                  </a:lnTo>
                </a:path>
                <a:path extrusionOk="0" h="1920875" w="3799840">
                  <a:moveTo>
                    <a:pt x="1915160" y="103632"/>
                  </a:moveTo>
                  <a:lnTo>
                    <a:pt x="1921466" y="88040"/>
                  </a:lnTo>
                  <a:lnTo>
                    <a:pt x="1929320" y="72723"/>
                  </a:lnTo>
                  <a:lnTo>
                    <a:pt x="1938698" y="57715"/>
                  </a:lnTo>
                  <a:lnTo>
                    <a:pt x="1949577" y="43052"/>
                  </a:lnTo>
                </a:path>
                <a:path extrusionOk="0" h="1920875" w="3799840">
                  <a:moveTo>
                    <a:pt x="1134872" y="124206"/>
                  </a:moveTo>
                  <a:lnTo>
                    <a:pt x="1168144" y="137126"/>
                  </a:lnTo>
                  <a:lnTo>
                    <a:pt x="1200070" y="151272"/>
                  </a:lnTo>
                  <a:lnTo>
                    <a:pt x="1230544" y="166586"/>
                  </a:lnTo>
                  <a:lnTo>
                    <a:pt x="1259459" y="183007"/>
                  </a:lnTo>
                </a:path>
                <a:path extrusionOk="0" h="1920875" w="3799840">
                  <a:moveTo>
                    <a:pt x="188595" y="585977"/>
                  </a:moveTo>
                  <a:lnTo>
                    <a:pt x="181665" y="570688"/>
                  </a:lnTo>
                  <a:lnTo>
                    <a:pt x="175736" y="555291"/>
                  </a:lnTo>
                  <a:lnTo>
                    <a:pt x="170807" y="539775"/>
                  </a:lnTo>
                  <a:lnTo>
                    <a:pt x="166878" y="524128"/>
                  </a:lnTo>
                </a:path>
              </a:pathLst>
            </a:custGeom>
            <a:noFill/>
            <a:ln cap="flat" cmpd="sng" w="12175">
              <a:solidFill>
                <a:srgbClr val="417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3"/>
          <p:cNvGrpSpPr/>
          <p:nvPr/>
        </p:nvGrpSpPr>
        <p:grpSpPr>
          <a:xfrm>
            <a:off x="5352777" y="3577035"/>
            <a:ext cx="85457" cy="85457"/>
            <a:chOff x="7027798" y="3673983"/>
            <a:chExt cx="116713" cy="116712"/>
          </a:xfrm>
        </p:grpSpPr>
        <p:pic>
          <p:nvPicPr>
            <p:cNvPr id="463" name="Google Shape;463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33894" y="3680079"/>
              <a:ext cx="104521" cy="10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4" name="Google Shape;464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27798" y="3673983"/>
              <a:ext cx="116713" cy="1167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5" name="Google Shape;465;p33"/>
          <p:cNvSpPr txBox="1"/>
          <p:nvPr/>
        </p:nvSpPr>
        <p:spPr>
          <a:xfrm>
            <a:off x="5993024" y="2076451"/>
            <a:ext cx="23889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27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Others, who vouch for HirotakaTakeuchi and IkujiroNonakaas inventing Scrum in 1986.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3 Empirical Scrum Pillars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71" y="1478825"/>
            <a:ext cx="8181053" cy="304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5 Scrum Values</a:t>
            </a:r>
            <a:endParaRPr/>
          </a:p>
        </p:txBody>
      </p:sp>
      <p:pic>
        <p:nvPicPr>
          <p:cNvPr id="477" name="Google Shape;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750" y="1217300"/>
            <a:ext cx="6336499" cy="37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3133"/>
              <a:t>Scrum framework</a:t>
            </a:r>
            <a:endParaRPr sz="3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36"/>
          <p:cNvGrpSpPr/>
          <p:nvPr/>
        </p:nvGrpSpPr>
        <p:grpSpPr>
          <a:xfrm>
            <a:off x="1045025" y="1308615"/>
            <a:ext cx="5108197" cy="999357"/>
            <a:chOff x="940307" y="1512569"/>
            <a:chExt cx="7391400" cy="1329817"/>
          </a:xfrm>
        </p:grpSpPr>
        <p:sp>
          <p:nvSpPr>
            <p:cNvPr id="484" name="Google Shape;484;p36"/>
            <p:cNvSpPr/>
            <p:nvPr/>
          </p:nvSpPr>
          <p:spPr>
            <a:xfrm>
              <a:off x="940307" y="1719072"/>
              <a:ext cx="7391400" cy="1123314"/>
            </a:xfrm>
            <a:custGeom>
              <a:rect b="b" l="l" r="r" t="t"/>
              <a:pathLst>
                <a:path extrusionOk="0" h="1123314" w="7391400">
                  <a:moveTo>
                    <a:pt x="0" y="1123188"/>
                  </a:moveTo>
                  <a:lnTo>
                    <a:pt x="7391400" y="1123188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3188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87" name="Google Shape;487;p36"/>
          <p:cNvSpPr txBox="1"/>
          <p:nvPr/>
        </p:nvSpPr>
        <p:spPr>
          <a:xfrm>
            <a:off x="1432487" y="1358675"/>
            <a:ext cx="3034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Roles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Product owner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Scrum Master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•"/>
            </a:pPr>
            <a:r>
              <a:rPr lang="sv" sz="1100">
                <a:latin typeface="Nunito"/>
                <a:ea typeface="Nunito"/>
                <a:cs typeface="Nunito"/>
                <a:sym typeface="Nunito"/>
              </a:rPr>
              <a:t>Team/Developers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88" name="Google Shape;488;p36"/>
          <p:cNvGrpSpPr/>
          <p:nvPr/>
        </p:nvGrpSpPr>
        <p:grpSpPr>
          <a:xfrm>
            <a:off x="1045025" y="2373663"/>
            <a:ext cx="5108197" cy="1393927"/>
            <a:chOff x="940307" y="2919222"/>
            <a:chExt cx="7391400" cy="1595247"/>
          </a:xfrm>
        </p:grpSpPr>
        <p:sp>
          <p:nvSpPr>
            <p:cNvPr id="489" name="Google Shape;489;p36"/>
            <p:cNvSpPr/>
            <p:nvPr/>
          </p:nvSpPr>
          <p:spPr>
            <a:xfrm>
              <a:off x="940307" y="3125724"/>
              <a:ext cx="7391400" cy="1388745"/>
            </a:xfrm>
            <a:custGeom>
              <a:rect b="b" l="l" r="r" t="t"/>
              <a:pathLst>
                <a:path extrusionOk="0" h="1388745" w="7391400">
                  <a:moveTo>
                    <a:pt x="0" y="1388364"/>
                  </a:moveTo>
                  <a:lnTo>
                    <a:pt x="7391400" y="1388364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388364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92" name="Google Shape;492;p36"/>
          <p:cNvSpPr txBox="1"/>
          <p:nvPr/>
        </p:nvSpPr>
        <p:spPr>
          <a:xfrm>
            <a:off x="1432467" y="2445313"/>
            <a:ext cx="31395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Ceremonies/Events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sprint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planning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Daily scrum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review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</a:t>
            </a: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retrospective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93" name="Google Shape;493;p36"/>
          <p:cNvGrpSpPr/>
          <p:nvPr/>
        </p:nvGrpSpPr>
        <p:grpSpPr>
          <a:xfrm>
            <a:off x="1045025" y="3833484"/>
            <a:ext cx="5108197" cy="999245"/>
            <a:chOff x="940307" y="4591050"/>
            <a:chExt cx="7391400" cy="1330198"/>
          </a:xfrm>
        </p:grpSpPr>
        <p:sp>
          <p:nvSpPr>
            <p:cNvPr id="494" name="Google Shape;494;p36"/>
            <p:cNvSpPr/>
            <p:nvPr/>
          </p:nvSpPr>
          <p:spPr>
            <a:xfrm>
              <a:off x="940307" y="4796028"/>
              <a:ext cx="7391400" cy="1125220"/>
            </a:xfrm>
            <a:custGeom>
              <a:rect b="b" l="l" r="r" t="t"/>
              <a:pathLst>
                <a:path extrusionOk="0" h="1125220" w="7391400">
                  <a:moveTo>
                    <a:pt x="0" y="1124712"/>
                  </a:moveTo>
                  <a:lnTo>
                    <a:pt x="7391400" y="1124712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4"/>
                  </a:lnTo>
                  <a:lnTo>
                    <a:pt x="5105146" y="413004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4"/>
                  </a:lnTo>
                  <a:lnTo>
                    <a:pt x="68834" y="413004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97" name="Google Shape;497;p36"/>
          <p:cNvSpPr txBox="1"/>
          <p:nvPr/>
        </p:nvSpPr>
        <p:spPr>
          <a:xfrm>
            <a:off x="1432486" y="3884175"/>
            <a:ext cx="36825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Artifacts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backlog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Increment/Done work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Scrum framework</a:t>
            </a:r>
            <a:endParaRPr/>
          </a:p>
        </p:txBody>
      </p:sp>
      <p:pic>
        <p:nvPicPr>
          <p:cNvPr id="503" name="Google Shape;5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200150"/>
            <a:ext cx="6524623" cy="3754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3133"/>
              <a:t>Scrum framework</a:t>
            </a:r>
            <a:endParaRPr sz="3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9" name="Google Shape;509;p38"/>
          <p:cNvGrpSpPr/>
          <p:nvPr/>
        </p:nvGrpSpPr>
        <p:grpSpPr>
          <a:xfrm>
            <a:off x="1045025" y="1308615"/>
            <a:ext cx="5108197" cy="999357"/>
            <a:chOff x="940307" y="1512569"/>
            <a:chExt cx="7391400" cy="1329817"/>
          </a:xfrm>
        </p:grpSpPr>
        <p:sp>
          <p:nvSpPr>
            <p:cNvPr id="510" name="Google Shape;510;p38"/>
            <p:cNvSpPr/>
            <p:nvPr/>
          </p:nvSpPr>
          <p:spPr>
            <a:xfrm>
              <a:off x="940307" y="1719072"/>
              <a:ext cx="7391400" cy="1123314"/>
            </a:xfrm>
            <a:custGeom>
              <a:rect b="b" l="l" r="r" t="t"/>
              <a:pathLst>
                <a:path extrusionOk="0" h="1123314" w="7391400">
                  <a:moveTo>
                    <a:pt x="0" y="1123188"/>
                  </a:moveTo>
                  <a:lnTo>
                    <a:pt x="7391400" y="1123188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3188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13" name="Google Shape;513;p38"/>
          <p:cNvSpPr txBox="1"/>
          <p:nvPr/>
        </p:nvSpPr>
        <p:spPr>
          <a:xfrm>
            <a:off x="1432487" y="1358675"/>
            <a:ext cx="3034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Roles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Product Owner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Scrum Master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"/>
              <a:buChar char="•"/>
            </a:pPr>
            <a:r>
              <a:rPr lang="sv" sz="1100">
                <a:latin typeface="Nunito"/>
                <a:ea typeface="Nunito"/>
                <a:cs typeface="Nunito"/>
                <a:sym typeface="Nunito"/>
              </a:rPr>
              <a:t>The Team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14" name="Google Shape;514;p38"/>
          <p:cNvGrpSpPr/>
          <p:nvPr/>
        </p:nvGrpSpPr>
        <p:grpSpPr>
          <a:xfrm>
            <a:off x="1045025" y="2390763"/>
            <a:ext cx="5108197" cy="1393927"/>
            <a:chOff x="940307" y="2919222"/>
            <a:chExt cx="7391400" cy="1595247"/>
          </a:xfrm>
        </p:grpSpPr>
        <p:sp>
          <p:nvSpPr>
            <p:cNvPr id="515" name="Google Shape;515;p38"/>
            <p:cNvSpPr/>
            <p:nvPr/>
          </p:nvSpPr>
          <p:spPr>
            <a:xfrm>
              <a:off x="940307" y="3125724"/>
              <a:ext cx="7391400" cy="1388745"/>
            </a:xfrm>
            <a:custGeom>
              <a:rect b="b" l="l" r="r" t="t"/>
              <a:pathLst>
                <a:path extrusionOk="0" h="1388745" w="7391400">
                  <a:moveTo>
                    <a:pt x="0" y="1388364"/>
                  </a:moveTo>
                  <a:lnTo>
                    <a:pt x="7391400" y="1388364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388364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1432467" y="2462413"/>
            <a:ext cx="31395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Events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The sprint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planning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Daily scrum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review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retrospective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19" name="Google Shape;519;p38"/>
          <p:cNvGrpSpPr/>
          <p:nvPr/>
        </p:nvGrpSpPr>
        <p:grpSpPr>
          <a:xfrm>
            <a:off x="1045025" y="3867509"/>
            <a:ext cx="5108197" cy="999245"/>
            <a:chOff x="940307" y="4591050"/>
            <a:chExt cx="7391400" cy="1330198"/>
          </a:xfrm>
        </p:grpSpPr>
        <p:sp>
          <p:nvSpPr>
            <p:cNvPr id="520" name="Google Shape;520;p38"/>
            <p:cNvSpPr/>
            <p:nvPr/>
          </p:nvSpPr>
          <p:spPr>
            <a:xfrm>
              <a:off x="940307" y="4796028"/>
              <a:ext cx="7391400" cy="1125220"/>
            </a:xfrm>
            <a:custGeom>
              <a:rect b="b" l="l" r="r" t="t"/>
              <a:pathLst>
                <a:path extrusionOk="0" h="1125220" w="7391400">
                  <a:moveTo>
                    <a:pt x="0" y="1124712"/>
                  </a:moveTo>
                  <a:lnTo>
                    <a:pt x="7391400" y="1124712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4"/>
                  </a:lnTo>
                  <a:lnTo>
                    <a:pt x="5105146" y="413004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4"/>
                  </a:lnTo>
                  <a:lnTo>
                    <a:pt x="68834" y="413004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23" name="Google Shape;523;p38"/>
          <p:cNvSpPr txBox="1"/>
          <p:nvPr/>
        </p:nvSpPr>
        <p:spPr>
          <a:xfrm>
            <a:off x="1432477" y="3918200"/>
            <a:ext cx="3034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Artifacts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backlog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Increment/Done work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9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Collect input from parties such as e</a:t>
            </a:r>
            <a:r>
              <a:rPr lang="sv"/>
              <a:t>xecutives</a:t>
            </a:r>
            <a:r>
              <a:rPr lang="sv"/>
              <a:t>, stakeholders, </a:t>
            </a:r>
            <a:r>
              <a:rPr lang="sv"/>
              <a:t>customers etc</a:t>
            </a:r>
            <a:r>
              <a:rPr lang="sv"/>
              <a:t>, and based on the collected information define the features of the product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Prioritize features according to value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Adjust features and priority every iteration, as needed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Ensuring that the Product Backlog is transparent, visible and understood.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Role: Product Owner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Role: Scrum Master</a:t>
            </a:r>
            <a:endParaRPr/>
          </a:p>
        </p:txBody>
      </p:sp>
      <p:sp>
        <p:nvSpPr>
          <p:cNvPr id="535" name="Google Shape;535;p40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Represents management to the project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Responsible for enacting Scrum values and practices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Removes impediments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Ensure that the team is fully functional and productive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Enable close cooperation across all roles and functions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Shield the team from external interferences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Role: The Team</a:t>
            </a:r>
            <a:endParaRPr/>
          </a:p>
        </p:txBody>
      </p:sp>
      <p:sp>
        <p:nvSpPr>
          <p:cNvPr id="541" name="Google Shape;541;p41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Typically 5-9 people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Cross-functional</a:t>
            </a:r>
            <a:endParaRPr/>
          </a:p>
          <a:p>
            <a:pPr indent="-180975" lvl="1" marL="68008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/>
              <a:t>Programmers, testers, user experience designers, etc.</a:t>
            </a:r>
            <a:endParaRPr sz="1300"/>
          </a:p>
          <a:p>
            <a:pPr indent="-171450" lvl="0" marL="2349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Members should be full-time</a:t>
            </a:r>
            <a:endParaRPr/>
          </a:p>
          <a:p>
            <a:pPr indent="-180975" lvl="1" marL="68008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/>
              <a:t>May be exceptions</a:t>
            </a:r>
            <a:r>
              <a:rPr lang="sv" sz="1300"/>
              <a:t> (e.g., database administrator)</a:t>
            </a:r>
            <a:endParaRPr sz="1300"/>
          </a:p>
          <a:p>
            <a:pPr indent="-171450" lvl="0" marL="2349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Teams are self-organizing</a:t>
            </a:r>
            <a:endParaRPr/>
          </a:p>
          <a:p>
            <a:pPr indent="-180975" lvl="1" marL="68008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 sz="1300"/>
              <a:t>Ideally, no titles but rarely a possibility</a:t>
            </a:r>
            <a:endParaRPr sz="1300"/>
          </a:p>
          <a:p>
            <a:pPr indent="-171450" lvl="0" marL="2349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Membership should change only between sprints.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3133"/>
              <a:t>Scrum framework</a:t>
            </a:r>
            <a:endParaRPr sz="3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7" name="Google Shape;547;p42"/>
          <p:cNvGrpSpPr/>
          <p:nvPr/>
        </p:nvGrpSpPr>
        <p:grpSpPr>
          <a:xfrm>
            <a:off x="1045025" y="1308615"/>
            <a:ext cx="5108197" cy="999357"/>
            <a:chOff x="940307" y="1512569"/>
            <a:chExt cx="7391400" cy="1329817"/>
          </a:xfrm>
        </p:grpSpPr>
        <p:sp>
          <p:nvSpPr>
            <p:cNvPr id="548" name="Google Shape;548;p42"/>
            <p:cNvSpPr/>
            <p:nvPr/>
          </p:nvSpPr>
          <p:spPr>
            <a:xfrm>
              <a:off x="940307" y="1719072"/>
              <a:ext cx="7391400" cy="1123314"/>
            </a:xfrm>
            <a:custGeom>
              <a:rect b="b" l="l" r="r" t="t"/>
              <a:pathLst>
                <a:path extrusionOk="0" h="1123314" w="7391400">
                  <a:moveTo>
                    <a:pt x="0" y="1123188"/>
                  </a:moveTo>
                  <a:lnTo>
                    <a:pt x="7391400" y="1123188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3188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49" name="Google Shape;549;p42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51" name="Google Shape;551;p42"/>
          <p:cNvSpPr txBox="1"/>
          <p:nvPr/>
        </p:nvSpPr>
        <p:spPr>
          <a:xfrm>
            <a:off x="1432487" y="1358675"/>
            <a:ext cx="3034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Roles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Product Owner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Scrum Master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The Team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52" name="Google Shape;552;p42"/>
          <p:cNvGrpSpPr/>
          <p:nvPr/>
        </p:nvGrpSpPr>
        <p:grpSpPr>
          <a:xfrm>
            <a:off x="1045025" y="2373663"/>
            <a:ext cx="5108197" cy="1393927"/>
            <a:chOff x="940307" y="2919222"/>
            <a:chExt cx="7391400" cy="1595247"/>
          </a:xfrm>
        </p:grpSpPr>
        <p:sp>
          <p:nvSpPr>
            <p:cNvPr id="553" name="Google Shape;553;p42"/>
            <p:cNvSpPr/>
            <p:nvPr/>
          </p:nvSpPr>
          <p:spPr>
            <a:xfrm>
              <a:off x="940307" y="3125724"/>
              <a:ext cx="7391400" cy="1388745"/>
            </a:xfrm>
            <a:custGeom>
              <a:rect b="b" l="l" r="r" t="t"/>
              <a:pathLst>
                <a:path extrusionOk="0" h="1388745" w="7391400">
                  <a:moveTo>
                    <a:pt x="0" y="1388364"/>
                  </a:moveTo>
                  <a:lnTo>
                    <a:pt x="7391400" y="1388364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388364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54" name="Google Shape;554;p42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56" name="Google Shape;556;p42"/>
          <p:cNvSpPr txBox="1"/>
          <p:nvPr/>
        </p:nvSpPr>
        <p:spPr>
          <a:xfrm>
            <a:off x="1432467" y="2445313"/>
            <a:ext cx="31395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Events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sprint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planning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Daily scrum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review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retrospective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557" name="Google Shape;557;p42"/>
          <p:cNvGrpSpPr/>
          <p:nvPr/>
        </p:nvGrpSpPr>
        <p:grpSpPr>
          <a:xfrm>
            <a:off x="1045025" y="3833484"/>
            <a:ext cx="5108197" cy="999245"/>
            <a:chOff x="940307" y="4591050"/>
            <a:chExt cx="7391400" cy="1330198"/>
          </a:xfrm>
        </p:grpSpPr>
        <p:sp>
          <p:nvSpPr>
            <p:cNvPr id="558" name="Google Shape;558;p42"/>
            <p:cNvSpPr/>
            <p:nvPr/>
          </p:nvSpPr>
          <p:spPr>
            <a:xfrm>
              <a:off x="940307" y="4796028"/>
              <a:ext cx="7391400" cy="1125220"/>
            </a:xfrm>
            <a:custGeom>
              <a:rect b="b" l="l" r="r" t="t"/>
              <a:pathLst>
                <a:path extrusionOk="0" h="1125220" w="7391400">
                  <a:moveTo>
                    <a:pt x="0" y="1124712"/>
                  </a:moveTo>
                  <a:lnTo>
                    <a:pt x="7391400" y="1124712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4"/>
                  </a:lnTo>
                  <a:lnTo>
                    <a:pt x="5105146" y="413004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4"/>
                  </a:lnTo>
                  <a:lnTo>
                    <a:pt x="68834" y="413004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561" name="Google Shape;561;p42"/>
          <p:cNvSpPr txBox="1"/>
          <p:nvPr/>
        </p:nvSpPr>
        <p:spPr>
          <a:xfrm>
            <a:off x="1432477" y="3884175"/>
            <a:ext cx="2961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Artifacts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backlog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Increment/Done work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Event: The Sprint</a:t>
            </a:r>
            <a:endParaRPr/>
          </a:p>
        </p:txBody>
      </p:sp>
      <p:sp>
        <p:nvSpPr>
          <p:cNvPr id="567" name="Google Shape;567;p43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No changes are made that would endanger the Sprint Goal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Quality does not decrease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Product Backlog is refined as needed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Scope may be clarified and renegotiated with the Product Owner as more is learned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All the work necessary to achieve the Product Goal, including Sprint Planning, Daily Scrums, Sprint Review, and Sprint Retrospective, happen within Sprints.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Event: Sprint Planning</a:t>
            </a:r>
            <a:endParaRPr/>
          </a:p>
        </p:txBody>
      </p:sp>
      <p:sp>
        <p:nvSpPr>
          <p:cNvPr id="573" name="Google Shape;573;p44"/>
          <p:cNvSpPr txBox="1"/>
          <p:nvPr>
            <p:ph idx="1" type="body"/>
          </p:nvPr>
        </p:nvSpPr>
        <p:spPr>
          <a:xfrm>
            <a:off x="1303800" y="1170900"/>
            <a:ext cx="7030500" cy="3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b="1" lang="sv"/>
              <a:t>Purpose: </a:t>
            </a:r>
            <a:r>
              <a:rPr lang="sv"/>
              <a:t>At every sprint start, sprint backlog is created out of product backlog.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b="1" lang="sv"/>
              <a:t>Participants: </a:t>
            </a:r>
            <a:r>
              <a:rPr lang="sv"/>
              <a:t>Product owner, scrum master, team</a:t>
            </a:r>
            <a:endParaRPr/>
          </a:p>
          <a:p>
            <a:pPr indent="-311150" lvl="0" marL="457200" marR="285115" rtl="0" algn="l">
              <a:lnSpc>
                <a:spcPct val="109523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b="1" lang="sv"/>
              <a:t>Duration: </a:t>
            </a:r>
            <a:r>
              <a:rPr lang="sv"/>
              <a:t>This is a time-boxed meeting, duration depends on the duration of sprint and complexity of the items.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b="1" lang="sv"/>
              <a:t>Highlights:</a:t>
            </a:r>
            <a:endParaRPr b="1"/>
          </a:p>
          <a:p>
            <a:pPr indent="-311150" lvl="1" marL="91440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</a:pPr>
            <a:r>
              <a:rPr lang="sv"/>
              <a:t>The Product Owner ensures that attendees are prepared to discuss the most important Product Backlog items and how they map to the Product Goal.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</a:pPr>
            <a:r>
              <a:rPr lang="sv"/>
              <a:t>Tasks are identified and refined, and each gets a time estimation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</a:pPr>
            <a:r>
              <a:rPr lang="sv"/>
              <a:t>For each selected Product Backlog item, the team plan the work necessary to create an Increment that meets the Definition of Done. 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</a:pPr>
            <a:r>
              <a:rPr lang="sv"/>
              <a:t>Sometimes a larger item gets decomposed into smaller work items. How this is done is at the sole discretion of the Developers.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idx="1" type="body"/>
          </p:nvPr>
        </p:nvSpPr>
        <p:spPr>
          <a:xfrm>
            <a:off x="1303800" y="1143000"/>
            <a:ext cx="7030500" cy="32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Parameters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Daily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15min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stand-up, face-to-face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Anyone can participate, 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Only Team, Scrum master and Product owner may speak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Usually Team members brings up the following 3 things</a:t>
            </a:r>
            <a:endParaRPr/>
          </a:p>
          <a:p>
            <a:pPr indent="-311150" lvl="1" marL="9144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What was done yesterday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What is planned to be done today</a:t>
            </a: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sv" sz="1300"/>
              <a:t>Mention if there are any impediments preventing progress. The Team might be able to help.</a:t>
            </a:r>
            <a:endParaRPr sz="1300"/>
          </a:p>
        </p:txBody>
      </p:sp>
      <p:sp>
        <p:nvSpPr>
          <p:cNvPr id="579" name="Google Shape;579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Event: Daily Scrum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Event: Sprint Review</a:t>
            </a:r>
            <a:endParaRPr/>
          </a:p>
        </p:txBody>
      </p:sp>
      <p:sp>
        <p:nvSpPr>
          <p:cNvPr id="585" name="Google Shape;585;p46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Scrum Team presents the results of their work </a:t>
            </a:r>
            <a:r>
              <a:rPr lang="sv"/>
              <a:t>to Product Owner, Scrum master and interested stakeholders.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During the event, the Scrum Team and stakeholders review what was accomplished in the Sprint and what has changed in their environment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Product Backlog may also be adjusted to meet new opportunities. The Sprint Review is a working session and the Scrum Team should avoid limiting it to a presentation.</a:t>
            </a:r>
            <a:endParaRPr sz="1300"/>
          </a:p>
          <a:p>
            <a:pPr indent="-171450" lvl="0" marL="23495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Invite the world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Event: Sprint Retrospective</a:t>
            </a:r>
            <a:endParaRPr/>
          </a:p>
        </p:txBody>
      </p:sp>
      <p:sp>
        <p:nvSpPr>
          <p:cNvPr id="591" name="Google Shape;591;p47"/>
          <p:cNvSpPr txBox="1"/>
          <p:nvPr>
            <p:ph idx="1" type="body"/>
          </p:nvPr>
        </p:nvSpPr>
        <p:spPr>
          <a:xfrm>
            <a:off x="1303800" y="1419150"/>
            <a:ext cx="7030500" cy="3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lang="sv"/>
              <a:t>Purpose: </a:t>
            </a:r>
            <a:r>
              <a:rPr lang="sv"/>
              <a:t>This meeting is held at the end of each sprint (after the sprint review), it facilitates team to inspect and adapt its process to optimize efficiency.</a:t>
            </a:r>
            <a:endParaRPr/>
          </a:p>
          <a:p>
            <a:pPr indent="-311150" lvl="1" marL="9144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lang="sv" sz="1300"/>
              <a:t>In this meeting following points would be discussed.</a:t>
            </a:r>
            <a:endParaRPr sz="1300"/>
          </a:p>
          <a:p>
            <a:pPr indent="-311150" lvl="2" marL="13716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lang="sv" sz="1300"/>
              <a:t>What went well in the sprint.</a:t>
            </a:r>
            <a:endParaRPr sz="1300"/>
          </a:p>
          <a:p>
            <a:pPr indent="-311150" lvl="2" marL="13716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lang="sv" sz="1300"/>
              <a:t>What did not went well in the sprint.</a:t>
            </a:r>
            <a:endParaRPr sz="1300"/>
          </a:p>
          <a:p>
            <a:pPr indent="-311150" lvl="2" marL="13716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lang="sv" sz="1300"/>
              <a:t>How can we enhance.</a:t>
            </a:r>
            <a:endParaRPr sz="1300"/>
          </a:p>
          <a:p>
            <a:pPr indent="-311150" lvl="1" marL="9144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lang="sv" sz="1300"/>
              <a:t>The output of this meeting becomes the input for next sprint for enhancing the practice.</a:t>
            </a:r>
            <a:endParaRPr sz="1300"/>
          </a:p>
          <a:p>
            <a:pPr indent="-311150" lvl="0" marL="457200" marR="2095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•"/>
            </a:pPr>
            <a:r>
              <a:rPr b="1" lang="sv"/>
              <a:t>Participants:</a:t>
            </a:r>
            <a:r>
              <a:rPr lang="sv"/>
              <a:t> Product owner, scrum master, team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3133"/>
              <a:t>Scrum framework</a:t>
            </a:r>
            <a:endParaRPr sz="31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48"/>
          <p:cNvGrpSpPr/>
          <p:nvPr/>
        </p:nvGrpSpPr>
        <p:grpSpPr>
          <a:xfrm>
            <a:off x="1045025" y="1308615"/>
            <a:ext cx="5108197" cy="999357"/>
            <a:chOff x="940307" y="1512569"/>
            <a:chExt cx="7391400" cy="1329817"/>
          </a:xfrm>
        </p:grpSpPr>
        <p:sp>
          <p:nvSpPr>
            <p:cNvPr id="598" name="Google Shape;598;p48"/>
            <p:cNvSpPr/>
            <p:nvPr/>
          </p:nvSpPr>
          <p:spPr>
            <a:xfrm>
              <a:off x="940307" y="1719072"/>
              <a:ext cx="7391400" cy="1123314"/>
            </a:xfrm>
            <a:custGeom>
              <a:rect b="b" l="l" r="r" t="t"/>
              <a:pathLst>
                <a:path extrusionOk="0" h="1123314" w="7391400">
                  <a:moveTo>
                    <a:pt x="0" y="1123188"/>
                  </a:moveTo>
                  <a:lnTo>
                    <a:pt x="7391400" y="1123188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3188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1309877" y="1512569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01" name="Google Shape;601;p48"/>
          <p:cNvSpPr txBox="1"/>
          <p:nvPr/>
        </p:nvSpPr>
        <p:spPr>
          <a:xfrm>
            <a:off x="1432487" y="1358675"/>
            <a:ext cx="3034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Roles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Product Owner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Scrum Master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The Team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02" name="Google Shape;602;p48"/>
          <p:cNvGrpSpPr/>
          <p:nvPr/>
        </p:nvGrpSpPr>
        <p:grpSpPr>
          <a:xfrm>
            <a:off x="1045025" y="2373663"/>
            <a:ext cx="5108197" cy="1393927"/>
            <a:chOff x="940307" y="2919222"/>
            <a:chExt cx="7391400" cy="1595247"/>
          </a:xfrm>
        </p:grpSpPr>
        <p:sp>
          <p:nvSpPr>
            <p:cNvPr id="603" name="Google Shape;603;p48"/>
            <p:cNvSpPr/>
            <p:nvPr/>
          </p:nvSpPr>
          <p:spPr>
            <a:xfrm>
              <a:off x="940307" y="3125724"/>
              <a:ext cx="7391400" cy="1388745"/>
            </a:xfrm>
            <a:custGeom>
              <a:rect b="b" l="l" r="r" t="t"/>
              <a:pathLst>
                <a:path extrusionOk="0" h="1388745" w="7391400">
                  <a:moveTo>
                    <a:pt x="0" y="1388364"/>
                  </a:moveTo>
                  <a:lnTo>
                    <a:pt x="7391400" y="1388364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388364"/>
                  </a:lnTo>
                  <a:close/>
                </a:path>
              </a:pathLst>
            </a:custGeom>
            <a:noFill/>
            <a:ln cap="flat" cmpd="sng" w="1217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3"/>
                  </a:lnTo>
                  <a:lnTo>
                    <a:pt x="5105146" y="413003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 cap="flat" cmpd="sng" w="9525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05" name="Google Shape;605;p48"/>
            <p:cNvSpPr/>
            <p:nvPr/>
          </p:nvSpPr>
          <p:spPr>
            <a:xfrm>
              <a:off x="1309877" y="2919222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3"/>
                  </a:lnTo>
                  <a:lnTo>
                    <a:pt x="68834" y="413003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solidFill>
              <a:srgbClr val="FCE5CD"/>
            </a:solidFill>
            <a:ln cap="flat" cmpd="sng" w="19800">
              <a:solidFill>
                <a:srgbClr val="FCE5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06" name="Google Shape;606;p48"/>
          <p:cNvSpPr txBox="1"/>
          <p:nvPr/>
        </p:nvSpPr>
        <p:spPr>
          <a:xfrm>
            <a:off x="1432467" y="2445313"/>
            <a:ext cx="31395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Events</a:t>
            </a:r>
            <a:endParaRPr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The sprint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planning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Daily scrum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review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rgbClr val="FCE5CD"/>
                </a:solidFill>
                <a:latin typeface="Nunito"/>
                <a:ea typeface="Nunito"/>
                <a:cs typeface="Nunito"/>
                <a:sym typeface="Nunito"/>
              </a:rPr>
              <a:t>Sprint retrospective</a:t>
            </a:r>
            <a:endParaRPr sz="1100">
              <a:solidFill>
                <a:srgbClr val="FCE5C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07" name="Google Shape;607;p48"/>
          <p:cNvGrpSpPr/>
          <p:nvPr/>
        </p:nvGrpSpPr>
        <p:grpSpPr>
          <a:xfrm>
            <a:off x="1045025" y="3833484"/>
            <a:ext cx="5108197" cy="999245"/>
            <a:chOff x="940307" y="4591050"/>
            <a:chExt cx="7391400" cy="1330198"/>
          </a:xfrm>
        </p:grpSpPr>
        <p:sp>
          <p:nvSpPr>
            <p:cNvPr id="608" name="Google Shape;608;p48"/>
            <p:cNvSpPr/>
            <p:nvPr/>
          </p:nvSpPr>
          <p:spPr>
            <a:xfrm>
              <a:off x="940307" y="4796028"/>
              <a:ext cx="7391400" cy="1125220"/>
            </a:xfrm>
            <a:custGeom>
              <a:rect b="b" l="l" r="r" t="t"/>
              <a:pathLst>
                <a:path extrusionOk="0" h="1125220" w="7391400">
                  <a:moveTo>
                    <a:pt x="0" y="1124712"/>
                  </a:moveTo>
                  <a:lnTo>
                    <a:pt x="7391400" y="1124712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noFill/>
            <a:ln cap="flat" cmpd="sng" w="12175">
              <a:solidFill>
                <a:srgbClr val="5B9B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5105146" y="0"/>
                  </a:moveTo>
                  <a:lnTo>
                    <a:pt x="68834" y="0"/>
                  </a:lnTo>
                  <a:lnTo>
                    <a:pt x="42058" y="5415"/>
                  </a:lnTo>
                  <a:lnTo>
                    <a:pt x="20177" y="20177"/>
                  </a:lnTo>
                  <a:lnTo>
                    <a:pt x="5415" y="42058"/>
                  </a:lnTo>
                  <a:lnTo>
                    <a:pt x="0" y="68833"/>
                  </a:lnTo>
                  <a:lnTo>
                    <a:pt x="0" y="344169"/>
                  </a:lnTo>
                  <a:lnTo>
                    <a:pt x="5415" y="370945"/>
                  </a:lnTo>
                  <a:lnTo>
                    <a:pt x="20177" y="392826"/>
                  </a:lnTo>
                  <a:lnTo>
                    <a:pt x="42058" y="407588"/>
                  </a:lnTo>
                  <a:lnTo>
                    <a:pt x="68834" y="413004"/>
                  </a:lnTo>
                  <a:lnTo>
                    <a:pt x="5105146" y="413004"/>
                  </a:lnTo>
                  <a:lnTo>
                    <a:pt x="5131921" y="407588"/>
                  </a:lnTo>
                  <a:lnTo>
                    <a:pt x="5153802" y="392826"/>
                  </a:lnTo>
                  <a:lnTo>
                    <a:pt x="5168564" y="370945"/>
                  </a:lnTo>
                  <a:lnTo>
                    <a:pt x="5173980" y="344169"/>
                  </a:lnTo>
                  <a:lnTo>
                    <a:pt x="5173980" y="68833"/>
                  </a:lnTo>
                  <a:lnTo>
                    <a:pt x="5168564" y="42058"/>
                  </a:lnTo>
                  <a:lnTo>
                    <a:pt x="5153802" y="20177"/>
                  </a:lnTo>
                  <a:lnTo>
                    <a:pt x="5131921" y="5415"/>
                  </a:lnTo>
                  <a:lnTo>
                    <a:pt x="5105146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1309877" y="4591050"/>
              <a:ext cx="5173980" cy="413385"/>
            </a:xfrm>
            <a:custGeom>
              <a:rect b="b" l="l" r="r" t="t"/>
              <a:pathLst>
                <a:path extrusionOk="0" h="413385" w="5173980">
                  <a:moveTo>
                    <a:pt x="0" y="68833"/>
                  </a:moveTo>
                  <a:lnTo>
                    <a:pt x="5415" y="42058"/>
                  </a:lnTo>
                  <a:lnTo>
                    <a:pt x="20177" y="20177"/>
                  </a:lnTo>
                  <a:lnTo>
                    <a:pt x="42058" y="5415"/>
                  </a:lnTo>
                  <a:lnTo>
                    <a:pt x="68834" y="0"/>
                  </a:lnTo>
                  <a:lnTo>
                    <a:pt x="5105146" y="0"/>
                  </a:lnTo>
                  <a:lnTo>
                    <a:pt x="5131921" y="5415"/>
                  </a:lnTo>
                  <a:lnTo>
                    <a:pt x="5153802" y="20177"/>
                  </a:lnTo>
                  <a:lnTo>
                    <a:pt x="5168564" y="42058"/>
                  </a:lnTo>
                  <a:lnTo>
                    <a:pt x="5173980" y="68833"/>
                  </a:lnTo>
                  <a:lnTo>
                    <a:pt x="5173980" y="344169"/>
                  </a:lnTo>
                  <a:lnTo>
                    <a:pt x="5168564" y="370945"/>
                  </a:lnTo>
                  <a:lnTo>
                    <a:pt x="5153802" y="392826"/>
                  </a:lnTo>
                  <a:lnTo>
                    <a:pt x="5131921" y="407588"/>
                  </a:lnTo>
                  <a:lnTo>
                    <a:pt x="5105146" y="413004"/>
                  </a:lnTo>
                  <a:lnTo>
                    <a:pt x="68834" y="413004"/>
                  </a:lnTo>
                  <a:lnTo>
                    <a:pt x="42058" y="407588"/>
                  </a:lnTo>
                  <a:lnTo>
                    <a:pt x="20177" y="392826"/>
                  </a:lnTo>
                  <a:lnTo>
                    <a:pt x="5415" y="370945"/>
                  </a:lnTo>
                  <a:lnTo>
                    <a:pt x="0" y="344169"/>
                  </a:lnTo>
                  <a:lnTo>
                    <a:pt x="0" y="68833"/>
                  </a:lnTo>
                  <a:close/>
                </a:path>
              </a:pathLst>
            </a:custGeom>
            <a:noFill/>
            <a:ln cap="flat" cmpd="sng" w="19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11" name="Google Shape;611;p48"/>
          <p:cNvSpPr txBox="1"/>
          <p:nvPr/>
        </p:nvSpPr>
        <p:spPr>
          <a:xfrm>
            <a:off x="1432486" y="3884175"/>
            <a:ext cx="36825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Artifacts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Sprint backlog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94613" lvl="0" marL="126363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•"/>
            </a:pPr>
            <a:r>
              <a:rPr lang="sv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Increment/Done work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9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requirements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 list of all desired work on the project</a:t>
            </a:r>
            <a:endParaRPr/>
          </a:p>
          <a:p>
            <a:pPr indent="-172085" lvl="0" marL="234950" marR="5080" rtl="0" algn="l">
              <a:lnSpc>
                <a:spcPct val="109523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Ideally expressed such that each item has value to the users or customers of the product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Prioritized by the product owner</a:t>
            </a:r>
            <a:endParaRPr/>
          </a:p>
          <a:p>
            <a:pPr indent="-171450" lvl="0" marL="23495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Reprioritized before the start of each sprint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Artifact: Product backlog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0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sprint backlog is a list of tasks identified by the Scrum team to be</a:t>
            </a:r>
            <a:endParaRPr/>
          </a:p>
          <a:p>
            <a:pPr indent="0" lvl="0" marL="2349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sv"/>
              <a:t>completed during the Scrum “Sprint”.</a:t>
            </a:r>
            <a:endParaRPr/>
          </a:p>
          <a:p>
            <a:pPr indent="-172085" lvl="0" marL="234950" marR="5080" rtl="0" algn="l">
              <a:lnSpc>
                <a:spcPct val="109523"/>
              </a:lnSpc>
              <a:spcBef>
                <a:spcPts val="104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During the sprint planning meeting, the team selects some number of product backlog items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5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Artifact: Sprint backlog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 txBox="1"/>
          <p:nvPr>
            <p:ph idx="1" type="body"/>
          </p:nvPr>
        </p:nvSpPr>
        <p:spPr>
          <a:xfrm>
            <a:off x="1303800" y="15233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234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An Increment is a concrete stepping stone toward the Product Goal. </a:t>
            </a:r>
            <a:endParaRPr/>
          </a:p>
          <a:p>
            <a:pPr indent="-177800" lvl="0" marL="23495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•"/>
            </a:pPr>
            <a:r>
              <a:rPr lang="sv" sz="1400"/>
              <a:t>The list of increments show how much work has been completed</a:t>
            </a:r>
            <a:endParaRPr sz="1400"/>
          </a:p>
          <a:p>
            <a:pPr indent="-172085" lvl="0" marL="234950" marR="5080" rtl="0" algn="l">
              <a:lnSpc>
                <a:spcPct val="109523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The moment a Product Backlog item meets the Definition of Done, an Increment is born.</a:t>
            </a:r>
            <a:endParaRPr/>
          </a:p>
          <a:p>
            <a:pPr indent="-172085" lvl="0" marL="234950" marR="5080" rtl="0" algn="l">
              <a:lnSpc>
                <a:spcPct val="109523"/>
              </a:lnSpc>
              <a:spcBef>
                <a:spcPts val="105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•"/>
            </a:pPr>
            <a:r>
              <a:rPr lang="sv"/>
              <a:t>Definition of Done is a formal description of the state of the Increment when it meets the quality measures required for the product.</a:t>
            </a:r>
            <a:endParaRPr/>
          </a:p>
        </p:txBody>
      </p:sp>
      <p:sp>
        <p:nvSpPr>
          <p:cNvPr id="629" name="Google Shape;629;p5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Artifact: Increment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/>
              <a:t>Resources and online Scrum Tools</a:t>
            </a:r>
            <a:endParaRPr/>
          </a:p>
        </p:txBody>
      </p:sp>
      <p:sp>
        <p:nvSpPr>
          <p:cNvPr id="635" name="Google Shape;635;p52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rgbClr val="000000"/>
                </a:solidFill>
              </a:rPr>
              <a:t>Reading instructions for project methods: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sv" u="sng">
                <a:solidFill>
                  <a:schemeClr val="hlink"/>
                </a:solidFill>
                <a:hlinkClick r:id="rId3"/>
              </a:rPr>
              <a:t>https://www.agilealliance.org/agile-essentials/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sv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https://scrumguides.org/scrum-guide.html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sv" u="sng">
                <a:solidFill>
                  <a:schemeClr val="hlink"/>
                </a:solidFill>
                <a:hlinkClick r:id="rId5"/>
              </a:rPr>
              <a:t>https://www.atlassian.com/software/jira/guides/getting-started/introduction#what-is-jira-software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8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</a:endParaRPr>
          </a:p>
          <a:p>
            <a:pPr indent="0" lvl="0" marL="0" marR="130175" rtl="0" algn="l">
              <a:lnSpc>
                <a:spcPct val="97095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sv">
                <a:solidFill>
                  <a:srgbClr val="000000"/>
                </a:solidFill>
              </a:rPr>
              <a:t>JIRA tool will be used as the online Scrum management tool. Get started with JIRA at:</a:t>
            </a:r>
            <a:endParaRPr>
              <a:solidFill>
                <a:srgbClr val="000000"/>
              </a:solidFill>
            </a:endParaRPr>
          </a:p>
          <a:p>
            <a:pPr indent="-311150" lvl="0" marL="457200" marR="130175" rtl="0" algn="l">
              <a:lnSpc>
                <a:spcPct val="97095"/>
              </a:lnSpc>
              <a:spcBef>
                <a:spcPts val="994"/>
              </a:spcBef>
              <a:spcAft>
                <a:spcPts val="0"/>
              </a:spcAft>
              <a:buSzPts val="1300"/>
              <a:buChar char="-"/>
            </a:pPr>
            <a:r>
              <a:rPr lang="sv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https://www.atlassian.com/software/jira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